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56" r:id="rId5"/>
  </p:sldIdLst>
  <p:sldSz cx="43891200" cy="36576000"/>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5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5974" autoAdjust="0"/>
  </p:normalViewPr>
  <p:slideViewPr>
    <p:cSldViewPr snapToGrid="0">
      <p:cViewPr>
        <p:scale>
          <a:sx n="66" d="100"/>
          <a:sy n="66" d="100"/>
        </p:scale>
        <p:origin x="-5028" y="-2871"/>
      </p:cViewPr>
      <p:guideLst/>
    </p:cSldViewPr>
  </p:slid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E69ECF5C-051C-46C4-ACEF-72F94B24E518}" type="datetimeFigureOut">
              <a:rPr lang="en-US" smtClean="0"/>
              <a:t>3/30/2026</a:t>
            </a:fld>
            <a:endParaRPr lang="en-US"/>
          </a:p>
        </p:txBody>
      </p:sp>
      <p:sp>
        <p:nvSpPr>
          <p:cNvPr id="4" name="Slide Image Placeholder 3"/>
          <p:cNvSpPr>
            <a:spLocks noGrp="1" noRot="1" noChangeAspect="1"/>
          </p:cNvSpPr>
          <p:nvPr>
            <p:ph type="sldImg" idx="2"/>
          </p:nvPr>
        </p:nvSpPr>
        <p:spPr>
          <a:xfrm>
            <a:off x="1649413" y="1173163"/>
            <a:ext cx="38036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05BB9007-323D-4707-8258-FBD571E83281}" type="slidenum">
              <a:rPr lang="en-US" smtClean="0"/>
              <a:t>‹#›</a:t>
            </a:fld>
            <a:endParaRPr lang="en-US"/>
          </a:p>
        </p:txBody>
      </p:sp>
    </p:spTree>
    <p:extLst>
      <p:ext uri="{BB962C8B-B14F-4D97-AF65-F5344CB8AC3E}">
        <p14:creationId xmlns:p14="http://schemas.microsoft.com/office/powerpoint/2010/main" val="205688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BB9007-323D-4707-8258-FBD571E83281}" type="slidenum">
              <a:rPr lang="en-US" smtClean="0"/>
              <a:t>1</a:t>
            </a:fld>
            <a:endParaRPr lang="en-US"/>
          </a:p>
        </p:txBody>
      </p:sp>
    </p:spTree>
    <p:extLst>
      <p:ext uri="{BB962C8B-B14F-4D97-AF65-F5344CB8AC3E}">
        <p14:creationId xmlns:p14="http://schemas.microsoft.com/office/powerpoint/2010/main" val="471158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985936"/>
            <a:ext cx="37307520" cy="12733867"/>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9210869"/>
            <a:ext cx="32918400" cy="8830731"/>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2DDEBB-235B-49D9-AAF4-0D1166EA5645}"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2300792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2DDEBB-235B-49D9-AAF4-0D1166EA5645}"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249935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9118611"/>
            <a:ext cx="37856160" cy="15214597"/>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4477144"/>
            <a:ext cx="37856160" cy="8000997"/>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2DDEBB-235B-49D9-AAF4-0D1166EA5645}"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1992691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9736667"/>
            <a:ext cx="18653760" cy="23207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9736667"/>
            <a:ext cx="18653760" cy="23207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2DDEBB-235B-49D9-AAF4-0D1166EA5645}"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3756779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947342"/>
            <a:ext cx="37856160" cy="706966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966203"/>
            <a:ext cx="18568032" cy="4394197"/>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3360400"/>
            <a:ext cx="18568032" cy="19651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966203"/>
            <a:ext cx="18659477" cy="4394197"/>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3360400"/>
            <a:ext cx="18659477" cy="19651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2DDEBB-235B-49D9-AAF4-0D1166EA5645}"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3541550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2DDEBB-235B-49D9-AAF4-0D1166EA5645}"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3389816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2DDEBB-235B-49D9-AAF4-0D1166EA5645}"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1936751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438400"/>
            <a:ext cx="14156054" cy="853440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5266275"/>
            <a:ext cx="22219920" cy="25992667"/>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10972800"/>
            <a:ext cx="14156054" cy="20328469"/>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272DDEBB-235B-49D9-AAF4-0D1166EA5645}"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724377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438400"/>
            <a:ext cx="14156054" cy="853440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5266275"/>
            <a:ext cx="22219920" cy="25992667"/>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10972800"/>
            <a:ext cx="14156054" cy="20328469"/>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272DDEBB-235B-49D9-AAF4-0D1166EA5645}"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423046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2DDEBB-235B-49D9-AAF4-0D1166EA5645}"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3119074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947334"/>
            <a:ext cx="9464040" cy="3099646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947334"/>
            <a:ext cx="27843480" cy="309964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2DDEBB-235B-49D9-AAF4-0D1166EA5645}"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07CEE2-7996-427D-BE15-823A10369667}" type="slidenum">
              <a:rPr lang="en-US" smtClean="0"/>
              <a:t>‹#›</a:t>
            </a:fld>
            <a:endParaRPr lang="en-US"/>
          </a:p>
        </p:txBody>
      </p:sp>
    </p:spTree>
    <p:extLst>
      <p:ext uri="{BB962C8B-B14F-4D97-AF65-F5344CB8AC3E}">
        <p14:creationId xmlns:p14="http://schemas.microsoft.com/office/powerpoint/2010/main" val="2279065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947342"/>
            <a:ext cx="37856160" cy="706966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9736667"/>
            <a:ext cx="37856160" cy="23207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3900542"/>
            <a:ext cx="9875520" cy="1947333"/>
          </a:xfrm>
          <a:prstGeom prst="rect">
            <a:avLst/>
          </a:prstGeom>
        </p:spPr>
        <p:txBody>
          <a:bodyPr vert="horz" lIns="91440" tIns="45720" rIns="91440" bIns="45720" rtlCol="0" anchor="ctr"/>
          <a:lstStyle>
            <a:lvl1pPr algn="l">
              <a:defRPr sz="5760">
                <a:solidFill>
                  <a:schemeClr val="tx1">
                    <a:tint val="75000"/>
                  </a:schemeClr>
                </a:solidFill>
              </a:defRPr>
            </a:lvl1pPr>
          </a:lstStyle>
          <a:p>
            <a:fld id="{272DDEBB-235B-49D9-AAF4-0D1166EA5645}" type="datetimeFigureOut">
              <a:rPr lang="en-US" smtClean="0"/>
              <a:t>3/30/2026</a:t>
            </a:fld>
            <a:endParaRPr lang="en-US"/>
          </a:p>
        </p:txBody>
      </p:sp>
      <p:sp>
        <p:nvSpPr>
          <p:cNvPr id="5" name="Footer Placeholder 4"/>
          <p:cNvSpPr>
            <a:spLocks noGrp="1"/>
          </p:cNvSpPr>
          <p:nvPr>
            <p:ph type="ftr" sz="quarter" idx="3"/>
          </p:nvPr>
        </p:nvSpPr>
        <p:spPr>
          <a:xfrm>
            <a:off x="14538960" y="33900542"/>
            <a:ext cx="14813280" cy="1947333"/>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3900542"/>
            <a:ext cx="9875520" cy="1947333"/>
          </a:xfrm>
          <a:prstGeom prst="rect">
            <a:avLst/>
          </a:prstGeom>
        </p:spPr>
        <p:txBody>
          <a:bodyPr vert="horz" lIns="91440" tIns="45720" rIns="91440" bIns="45720" rtlCol="0" anchor="ctr"/>
          <a:lstStyle>
            <a:lvl1pPr algn="r">
              <a:defRPr sz="5760">
                <a:solidFill>
                  <a:schemeClr val="tx1">
                    <a:tint val="75000"/>
                  </a:schemeClr>
                </a:solidFill>
              </a:defRPr>
            </a:lvl1pPr>
          </a:lstStyle>
          <a:p>
            <a:fld id="{9A07CEE2-7996-427D-BE15-823A10369667}" type="slidenum">
              <a:rPr lang="en-US" smtClean="0"/>
              <a:t>‹#›</a:t>
            </a:fld>
            <a:endParaRPr lang="en-US"/>
          </a:p>
        </p:txBody>
      </p:sp>
    </p:spTree>
    <p:extLst>
      <p:ext uri="{BB962C8B-B14F-4D97-AF65-F5344CB8AC3E}">
        <p14:creationId xmlns:p14="http://schemas.microsoft.com/office/powerpoint/2010/main" val="15233573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hyperlink" Target="https://doi.org/10.3390/w8120589" TargetMode="External"/><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486399E-CB5A-CE41-F44E-A030C344E7E0}"/>
              </a:ext>
            </a:extLst>
          </p:cNvPr>
          <p:cNvSpPr/>
          <p:nvPr/>
        </p:nvSpPr>
        <p:spPr>
          <a:xfrm>
            <a:off x="775103" y="16271366"/>
            <a:ext cx="13409374" cy="19521892"/>
          </a:xfrm>
          <a:prstGeom prst="rect">
            <a:avLst/>
          </a:prstGeom>
          <a:solidFill>
            <a:schemeClr val="bg1"/>
          </a:solidFill>
          <a:ln w="288925">
            <a:solidFill>
              <a:schemeClr val="accent5">
                <a:lumMod val="60000"/>
                <a:lumOff val="40000"/>
              </a:schemeClr>
            </a:solidFill>
          </a:ln>
          <a:effectLst>
            <a:glow rad="63500">
              <a:schemeClr val="accent6">
                <a:satMod val="175000"/>
                <a:alpha val="40000"/>
              </a:schemeClr>
            </a:glow>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4222E0D7-C2D4-6AAD-1E93-EC5EE77D97DD}"/>
              </a:ext>
            </a:extLst>
          </p:cNvPr>
          <p:cNvSpPr/>
          <p:nvPr/>
        </p:nvSpPr>
        <p:spPr>
          <a:xfrm>
            <a:off x="0" y="-63063"/>
            <a:ext cx="43891200" cy="390982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b="1" dirty="0">
                <a:solidFill>
                  <a:schemeClr val="tx1"/>
                </a:solidFill>
                <a:latin typeface="Times New Roman" panose="02020603050405020304" pitchFamily="18" charset="0"/>
                <a:cs typeface="Times New Roman" panose="02020603050405020304" pitchFamily="18" charset="0"/>
              </a:rPr>
              <a:t>A Recursive MATLAB Model for Nitrate </a:t>
            </a:r>
          </a:p>
          <a:p>
            <a:pPr algn="ctr"/>
            <a:r>
              <a:rPr lang="en-US" sz="8800" b="1" dirty="0">
                <a:solidFill>
                  <a:schemeClr val="tx1"/>
                </a:solidFill>
                <a:latin typeface="Times New Roman" panose="02020603050405020304" pitchFamily="18" charset="0"/>
                <a:cs typeface="Times New Roman" panose="02020603050405020304" pitchFamily="18" charset="0"/>
              </a:rPr>
              <a:t>in a Decoupled Aquaponics System</a:t>
            </a:r>
          </a:p>
          <a:p>
            <a:pPr algn="ctr"/>
            <a:r>
              <a:rPr lang="en-US" sz="6600" dirty="0">
                <a:solidFill>
                  <a:schemeClr val="tx1"/>
                </a:solidFill>
                <a:latin typeface="Times New Roman" panose="02020603050405020304" pitchFamily="18" charset="0"/>
                <a:cs typeface="Times New Roman" panose="02020603050405020304" pitchFamily="18" charset="0"/>
              </a:rPr>
              <a:t>Evan Gibbs, York College of Pennsylvania</a:t>
            </a:r>
          </a:p>
        </p:txBody>
      </p:sp>
      <p:sp>
        <p:nvSpPr>
          <p:cNvPr id="2" name="Rectangle 1">
            <a:extLst>
              <a:ext uri="{FF2B5EF4-FFF2-40B4-BE49-F238E27FC236}">
                <a16:creationId xmlns:a16="http://schemas.microsoft.com/office/drawing/2014/main" id="{DE68CE03-42AD-C246-7194-F938E44C61E8}"/>
              </a:ext>
            </a:extLst>
          </p:cNvPr>
          <p:cNvSpPr/>
          <p:nvPr/>
        </p:nvSpPr>
        <p:spPr>
          <a:xfrm>
            <a:off x="793841" y="4189743"/>
            <a:ext cx="13374915" cy="8183695"/>
          </a:xfrm>
          <a:prstGeom prst="rect">
            <a:avLst/>
          </a:prstGeom>
          <a:solidFill>
            <a:schemeClr val="bg1"/>
          </a:solidFill>
          <a:ln w="288925">
            <a:solidFill>
              <a:schemeClr val="accent5">
                <a:lumMod val="60000"/>
                <a:lumOff val="40000"/>
              </a:schemeClr>
            </a:solidFill>
          </a:ln>
          <a:effectLst>
            <a:glow rad="63500">
              <a:schemeClr val="accent6">
                <a:satMod val="175000"/>
                <a:alpha val="40000"/>
              </a:schemeClr>
            </a:glow>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3000"/>
              </a:spcBef>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054D2B9-70E0-5B1F-A7DF-27C70F705BBF}"/>
              </a:ext>
            </a:extLst>
          </p:cNvPr>
          <p:cNvSpPr txBox="1"/>
          <p:nvPr/>
        </p:nvSpPr>
        <p:spPr>
          <a:xfrm flipH="1">
            <a:off x="879228" y="4124508"/>
            <a:ext cx="13251820" cy="769441"/>
          </a:xfrm>
          <a:prstGeom prst="rect">
            <a:avLst/>
          </a:prstGeom>
          <a:solidFill>
            <a:schemeClr val="accent5">
              <a:lumMod val="60000"/>
              <a:lumOff val="40000"/>
            </a:schemeClr>
          </a:solidFill>
          <a:ln>
            <a:noFill/>
          </a:ln>
          <a:effectLst/>
        </p:spPr>
        <p:txBody>
          <a:bodyPr wrap="square" rtlCol="0">
            <a:spAutoFit/>
          </a:bodyPr>
          <a:lstStyle/>
          <a:p>
            <a:pPr algn="ct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p:txBody>
      </p:sp>
      <p:sp>
        <p:nvSpPr>
          <p:cNvPr id="17" name="Rectangle 16">
            <a:extLst>
              <a:ext uri="{FF2B5EF4-FFF2-40B4-BE49-F238E27FC236}">
                <a16:creationId xmlns:a16="http://schemas.microsoft.com/office/drawing/2014/main" id="{70C46E60-F1DC-D921-D543-E5A97B72F1EF}"/>
              </a:ext>
            </a:extLst>
          </p:cNvPr>
          <p:cNvSpPr/>
          <p:nvPr/>
        </p:nvSpPr>
        <p:spPr>
          <a:xfrm>
            <a:off x="15042114" y="4189743"/>
            <a:ext cx="13853301" cy="11498670"/>
          </a:xfrm>
          <a:prstGeom prst="rect">
            <a:avLst/>
          </a:prstGeom>
          <a:solidFill>
            <a:schemeClr val="bg1"/>
          </a:solidFill>
          <a:ln w="288925">
            <a:solidFill>
              <a:schemeClr val="accent5">
                <a:lumMod val="60000"/>
                <a:lumOff val="40000"/>
              </a:schemeClr>
            </a:solidFill>
          </a:ln>
          <a:effectLst>
            <a:glow rad="63500">
              <a:schemeClr val="accent6">
                <a:satMod val="175000"/>
                <a:alpha val="40000"/>
              </a:schemeClr>
            </a:glow>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DDAF1D23-8813-82CE-22DC-1CDB07C5883E}"/>
              </a:ext>
            </a:extLst>
          </p:cNvPr>
          <p:cNvSpPr/>
          <p:nvPr/>
        </p:nvSpPr>
        <p:spPr>
          <a:xfrm>
            <a:off x="29863044" y="4189743"/>
            <a:ext cx="13326688" cy="16395251"/>
          </a:xfrm>
          <a:prstGeom prst="rect">
            <a:avLst/>
          </a:prstGeom>
          <a:solidFill>
            <a:schemeClr val="bg1"/>
          </a:solidFill>
          <a:ln w="288925">
            <a:solidFill>
              <a:schemeClr val="accent5">
                <a:lumMod val="60000"/>
                <a:lumOff val="40000"/>
              </a:schemeClr>
            </a:solidFill>
          </a:ln>
          <a:effectLst>
            <a:glow rad="63500">
              <a:schemeClr val="accent6">
                <a:satMod val="175000"/>
                <a:alpha val="40000"/>
              </a:schemeClr>
            </a:glow>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Rectangle 21">
            <a:extLst>
              <a:ext uri="{FF2B5EF4-FFF2-40B4-BE49-F238E27FC236}">
                <a16:creationId xmlns:a16="http://schemas.microsoft.com/office/drawing/2014/main" id="{5BD92D2A-77E2-C97E-B05A-FE54138DA470}"/>
              </a:ext>
            </a:extLst>
          </p:cNvPr>
          <p:cNvSpPr/>
          <p:nvPr/>
        </p:nvSpPr>
        <p:spPr>
          <a:xfrm>
            <a:off x="29743401" y="32531312"/>
            <a:ext cx="13333538" cy="2832064"/>
          </a:xfrm>
          <a:prstGeom prst="rect">
            <a:avLst/>
          </a:prstGeom>
          <a:solidFill>
            <a:schemeClr val="bg1"/>
          </a:solidFill>
          <a:ln w="288925">
            <a:solidFill>
              <a:schemeClr val="accent5">
                <a:lumMod val="60000"/>
                <a:lumOff val="40000"/>
              </a:schemeClr>
            </a:solidFill>
          </a:ln>
          <a:effectLst>
            <a:glow rad="63500">
              <a:schemeClr val="accent6">
                <a:satMod val="175000"/>
                <a:alpha val="40000"/>
              </a:schemeClr>
            </a:glow>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ectangle 22">
            <a:extLst>
              <a:ext uri="{FF2B5EF4-FFF2-40B4-BE49-F238E27FC236}">
                <a16:creationId xmlns:a16="http://schemas.microsoft.com/office/drawing/2014/main" id="{FFABC615-2906-78DE-50E2-FE35D5BE129F}"/>
              </a:ext>
            </a:extLst>
          </p:cNvPr>
          <p:cNvSpPr/>
          <p:nvPr/>
        </p:nvSpPr>
        <p:spPr>
          <a:xfrm>
            <a:off x="29743401" y="26665319"/>
            <a:ext cx="13333538" cy="5369431"/>
          </a:xfrm>
          <a:prstGeom prst="rect">
            <a:avLst/>
          </a:prstGeom>
          <a:solidFill>
            <a:schemeClr val="bg1"/>
          </a:solidFill>
          <a:ln w="288925">
            <a:solidFill>
              <a:schemeClr val="accent5">
                <a:lumMod val="60000"/>
                <a:lumOff val="40000"/>
              </a:schemeClr>
            </a:solidFill>
          </a:ln>
          <a:effectLst>
            <a:glow rad="63500">
              <a:schemeClr val="accent6">
                <a:satMod val="175000"/>
                <a:alpha val="40000"/>
              </a:schemeClr>
            </a:glow>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A8D2E8C6-FD03-D356-E854-4E90029A6FC5}"/>
              </a:ext>
            </a:extLst>
          </p:cNvPr>
          <p:cNvSpPr/>
          <p:nvPr/>
        </p:nvSpPr>
        <p:spPr>
          <a:xfrm>
            <a:off x="775102" y="13000018"/>
            <a:ext cx="13393655" cy="2688395"/>
          </a:xfrm>
          <a:prstGeom prst="rect">
            <a:avLst/>
          </a:prstGeom>
          <a:solidFill>
            <a:schemeClr val="bg1"/>
          </a:solidFill>
          <a:ln w="288925">
            <a:solidFill>
              <a:schemeClr val="accent5">
                <a:lumMod val="60000"/>
                <a:lumOff val="40000"/>
              </a:schemeClr>
            </a:solidFill>
          </a:ln>
          <a:effectLst>
            <a:glow rad="63500">
              <a:schemeClr val="accent6">
                <a:satMod val="175000"/>
                <a:alpha val="40000"/>
              </a:schemeClr>
            </a:glow>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indent="-685800">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685800" indent="-685800">
              <a:buFont typeface="Arial" panose="020B0604020202020204" pitchFamily="34" charset="0"/>
              <a:buChar char="•"/>
            </a:pP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75D28DBD-DE1A-508D-1D42-E41B79A6CFEB}"/>
              </a:ext>
            </a:extLst>
          </p:cNvPr>
          <p:cNvSpPr txBox="1"/>
          <p:nvPr/>
        </p:nvSpPr>
        <p:spPr>
          <a:xfrm flipH="1">
            <a:off x="879228" y="12889073"/>
            <a:ext cx="13232930" cy="769441"/>
          </a:xfrm>
          <a:prstGeom prst="rect">
            <a:avLst/>
          </a:prstGeom>
          <a:solidFill>
            <a:schemeClr val="accent5">
              <a:lumMod val="60000"/>
              <a:lumOff val="40000"/>
            </a:schemeClr>
          </a:solidFill>
          <a:ln>
            <a:solidFill>
              <a:schemeClr val="accent5">
                <a:lumMod val="60000"/>
                <a:lumOff val="40000"/>
              </a:schemeClr>
            </a:solidFill>
          </a:ln>
          <a:effectLst/>
        </p:spPr>
        <p:txBody>
          <a:bodyPr wrap="square" rtlCol="0">
            <a:spAutoFit/>
          </a:bodyPr>
          <a:lstStyle/>
          <a:p>
            <a:pPr algn="ct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a:t>
            </a:r>
          </a:p>
        </p:txBody>
      </p:sp>
      <p:sp>
        <p:nvSpPr>
          <p:cNvPr id="26" name="TextBox 25">
            <a:extLst>
              <a:ext uri="{FF2B5EF4-FFF2-40B4-BE49-F238E27FC236}">
                <a16:creationId xmlns:a16="http://schemas.microsoft.com/office/drawing/2014/main" id="{DFD60B5A-A7E3-5FD8-DFBB-36630FC129CF}"/>
              </a:ext>
            </a:extLst>
          </p:cNvPr>
          <p:cNvSpPr txBox="1"/>
          <p:nvPr/>
        </p:nvSpPr>
        <p:spPr>
          <a:xfrm flipH="1">
            <a:off x="793839" y="16184819"/>
            <a:ext cx="13390637" cy="769441"/>
          </a:xfrm>
          <a:prstGeom prst="rect">
            <a:avLst/>
          </a:prstGeom>
          <a:solidFill>
            <a:schemeClr val="accent5">
              <a:lumMod val="60000"/>
              <a:lumOff val="40000"/>
            </a:schemeClr>
          </a:solidFill>
          <a:ln>
            <a:noFill/>
          </a:ln>
          <a:effectLst/>
        </p:spPr>
        <p:txBody>
          <a:bodyPr wrap="square" rtlCol="0">
            <a:spAutoFit/>
          </a:bodyPr>
          <a:lstStyle/>
          <a:p>
            <a:pPr algn="ct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Considerations of Model</a:t>
            </a:r>
          </a:p>
        </p:txBody>
      </p:sp>
      <p:sp>
        <p:nvSpPr>
          <p:cNvPr id="27" name="TextBox 26">
            <a:extLst>
              <a:ext uri="{FF2B5EF4-FFF2-40B4-BE49-F238E27FC236}">
                <a16:creationId xmlns:a16="http://schemas.microsoft.com/office/drawing/2014/main" id="{00AE4C6B-64D5-84F3-6690-579422AABDBA}"/>
              </a:ext>
            </a:extLst>
          </p:cNvPr>
          <p:cNvSpPr txBox="1"/>
          <p:nvPr/>
        </p:nvSpPr>
        <p:spPr>
          <a:xfrm flipH="1">
            <a:off x="15052593" y="4056528"/>
            <a:ext cx="13906919" cy="769441"/>
          </a:xfrm>
          <a:prstGeom prst="rect">
            <a:avLst/>
          </a:prstGeom>
          <a:solidFill>
            <a:schemeClr val="accent5">
              <a:lumMod val="60000"/>
              <a:lumOff val="40000"/>
            </a:schemeClr>
          </a:solidFill>
          <a:ln>
            <a:noFill/>
          </a:ln>
          <a:effectLst/>
        </p:spPr>
        <p:txBody>
          <a:bodyPr wrap="square" rtlCol="0">
            <a:spAutoFit/>
          </a:bodyPr>
          <a:lstStyle/>
          <a:p>
            <a:pPr algn="ct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Definition of Model</a:t>
            </a:r>
          </a:p>
        </p:txBody>
      </p:sp>
      <p:sp>
        <p:nvSpPr>
          <p:cNvPr id="29" name="TextBox 28">
            <a:extLst>
              <a:ext uri="{FF2B5EF4-FFF2-40B4-BE49-F238E27FC236}">
                <a16:creationId xmlns:a16="http://schemas.microsoft.com/office/drawing/2014/main" id="{98276749-B1AB-2A1B-F59D-E30D02128F8A}"/>
              </a:ext>
            </a:extLst>
          </p:cNvPr>
          <p:cNvSpPr txBox="1"/>
          <p:nvPr/>
        </p:nvSpPr>
        <p:spPr>
          <a:xfrm flipH="1">
            <a:off x="29955542" y="4077389"/>
            <a:ext cx="13092955" cy="769441"/>
          </a:xfrm>
          <a:prstGeom prst="rect">
            <a:avLst/>
          </a:prstGeom>
          <a:solidFill>
            <a:schemeClr val="accent5">
              <a:lumMod val="60000"/>
              <a:lumOff val="40000"/>
            </a:schemeClr>
          </a:solidFill>
          <a:ln>
            <a:noFill/>
          </a:ln>
          <a:effectLst/>
        </p:spPr>
        <p:txBody>
          <a:bodyPr wrap="square" rtlCol="0">
            <a:spAutoFit/>
          </a:bodyPr>
          <a:lstStyle/>
          <a:p>
            <a:pPr algn="ct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Results of Adjusted Model</a:t>
            </a:r>
          </a:p>
        </p:txBody>
      </p:sp>
      <p:sp>
        <p:nvSpPr>
          <p:cNvPr id="6" name="TextBox 5">
            <a:extLst>
              <a:ext uri="{FF2B5EF4-FFF2-40B4-BE49-F238E27FC236}">
                <a16:creationId xmlns:a16="http://schemas.microsoft.com/office/drawing/2014/main" id="{AA9FD07D-414C-83EA-40B9-96B1C8E33FCC}"/>
              </a:ext>
            </a:extLst>
          </p:cNvPr>
          <p:cNvSpPr txBox="1"/>
          <p:nvPr/>
        </p:nvSpPr>
        <p:spPr>
          <a:xfrm>
            <a:off x="1154545" y="13653607"/>
            <a:ext cx="12830952" cy="1815882"/>
          </a:xfrm>
          <a:prstGeom prst="rect">
            <a:avLst/>
          </a:prstGeom>
          <a:noFill/>
        </p:spPr>
        <p:txBody>
          <a:bodyPr wrap="square" rtlCol="0">
            <a:spAutoFit/>
          </a:bodyPr>
          <a:lstStyle/>
          <a:p>
            <a:pPr>
              <a:spcBef>
                <a:spcPts val="3000"/>
              </a:spcBef>
            </a:pPr>
            <a:r>
              <a:rPr lang="en-US" sz="2800" dirty="0">
                <a:latin typeface="Times New Roman" panose="02020603050405020304" pitchFamily="18" charset="0"/>
                <a:cs typeface="Times New Roman" panose="02020603050405020304" pitchFamily="18" charset="0"/>
              </a:rPr>
              <a:t>The objective of this project was to create a mathematical model that can predict nitrate concentration in both parts of a decoupled aquaponics system, the fish tank and plant containers. It aims to quantify how differences in protein levels of feed directly translate to the efficiency of decoupled systems.</a:t>
            </a:r>
          </a:p>
        </p:txBody>
      </p:sp>
      <p:sp>
        <p:nvSpPr>
          <p:cNvPr id="8" name="TextBox 7">
            <a:extLst>
              <a:ext uri="{FF2B5EF4-FFF2-40B4-BE49-F238E27FC236}">
                <a16:creationId xmlns:a16="http://schemas.microsoft.com/office/drawing/2014/main" id="{F2F8009D-DF3C-E737-1CFC-5D6A3C81FB48}"/>
              </a:ext>
            </a:extLst>
          </p:cNvPr>
          <p:cNvSpPr txBox="1"/>
          <p:nvPr/>
        </p:nvSpPr>
        <p:spPr>
          <a:xfrm>
            <a:off x="1120506" y="16954260"/>
            <a:ext cx="12976534" cy="24233557"/>
          </a:xfrm>
          <a:prstGeom prst="rect">
            <a:avLst/>
          </a:prstGeom>
          <a:noFill/>
        </p:spPr>
        <p:txBody>
          <a:bodyPr wrap="square" rtlCol="0">
            <a:spAutoFit/>
          </a:bodyPr>
          <a:lstStyle/>
          <a:p>
            <a:pPr>
              <a:spcBef>
                <a:spcPts val="3000"/>
              </a:spcBef>
            </a:pPr>
            <a:r>
              <a:rPr lang="en-US" sz="3200" b="1" dirty="0">
                <a:latin typeface="Times New Roman" panose="02020603050405020304" pitchFamily="18" charset="0"/>
                <a:cs typeface="Times New Roman" panose="02020603050405020304" pitchFamily="18" charset="0"/>
              </a:rPr>
              <a:t>Five main components to consider…</a:t>
            </a:r>
          </a:p>
          <a:p>
            <a:pPr marR="0" lvl="0">
              <a:lnSpc>
                <a:spcPct val="107000"/>
              </a:lnSpc>
              <a:spcBef>
                <a:spcPts val="0"/>
              </a:spcBef>
              <a:spcAft>
                <a:spcPts val="0"/>
              </a:spcAft>
            </a:pPr>
            <a:r>
              <a:rPr lang="en-US" sz="2800" b="1" dirty="0">
                <a:latin typeface="Times New Roman" panose="02020603050405020304" pitchFamily="18" charset="0"/>
                <a:cs typeface="Times New Roman" panose="02020603050405020304" pitchFamily="18" charset="0"/>
              </a:rPr>
              <a:t>1. </a:t>
            </a:r>
            <a:r>
              <a:rPr lang="en-US" sz="2800" kern="0" dirty="0">
                <a:effectLst/>
                <a:latin typeface="Times New Roman" panose="02020603050405020304" pitchFamily="18" charset="0"/>
                <a:ea typeface="MingLiU" panose="02020509000000000000" pitchFamily="49" charset="-120"/>
                <a:cs typeface="Times New Roman" panose="02020603050405020304" pitchFamily="18" charset="0"/>
              </a:rPr>
              <a:t>Blue Tilapia (</a:t>
            </a:r>
            <a:r>
              <a:rPr lang="en-US" sz="2800" i="1" kern="0" dirty="0">
                <a:effectLst/>
                <a:latin typeface="Times New Roman" panose="02020603050405020304" pitchFamily="18" charset="0"/>
                <a:ea typeface="MingLiU" panose="02020509000000000000" pitchFamily="49" charset="-120"/>
                <a:cs typeface="Times New Roman" panose="02020603050405020304" pitchFamily="18" charset="0"/>
              </a:rPr>
              <a:t>Oreochromis aureus</a:t>
            </a:r>
            <a:r>
              <a:rPr lang="en-US" sz="2800" kern="0" dirty="0">
                <a:effectLst/>
                <a:latin typeface="Times New Roman" panose="02020603050405020304" pitchFamily="18" charset="0"/>
                <a:ea typeface="MingLiU" panose="02020509000000000000" pitchFamily="49" charset="-120"/>
                <a:cs typeface="Times New Roman" panose="02020603050405020304" pitchFamily="18" charset="0"/>
              </a:rPr>
              <a:t>)</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spcBef>
                <a:spcPts val="0"/>
              </a:spcBef>
              <a:spcAft>
                <a:spcPts val="0"/>
              </a:spcAft>
            </a:pP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H</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ybrid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Winterbor</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F1 Kale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Brassica oleracea</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var.</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i="1" dirty="0" err="1">
                <a:effectLst/>
                <a:latin typeface="Times New Roman" panose="02020603050405020304" pitchFamily="18" charset="0"/>
                <a:ea typeface="Times New Roman" panose="02020603050405020304" pitchFamily="18" charset="0"/>
                <a:cs typeface="Times New Roman" panose="02020603050405020304" pitchFamily="18" charset="0"/>
              </a:rPr>
              <a:t>Sabellica</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R="0" lvl="0">
              <a:spcBef>
                <a:spcPts val="0"/>
              </a:spcBef>
              <a:spcAft>
                <a:spcPts val="0"/>
              </a:spcAft>
            </a:pPr>
            <a:r>
              <a:rPr lang="en-US" sz="2800" b="1" dirty="0">
                <a:latin typeface="Times New Roman" panose="02020603050405020304" pitchFamily="18" charset="0"/>
                <a:ea typeface="Times New Roman" panose="02020603050405020304" pitchFamily="18" charset="0"/>
                <a:cs typeface="Times New Roman" panose="02020603050405020304" pitchFamily="18" charset="0"/>
              </a:rPr>
              <a:t>3. </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Bacteria of Fish Aquarium</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pPr>
            <a:r>
              <a:rPr lang="en-US" sz="2800" b="1" dirty="0">
                <a:latin typeface="Times New Roman" panose="02020603050405020304" pitchFamily="18" charset="0"/>
                <a:ea typeface="Times New Roman" panose="02020603050405020304" pitchFamily="18" charset="0"/>
                <a:cs typeface="Times New Roman" panose="02020603050405020304" pitchFamily="18" charset="0"/>
              </a:rPr>
              <a:t>4. </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Aquarium Water</a:t>
            </a:r>
          </a:p>
          <a:p>
            <a:pPr marR="0" lvl="0">
              <a:spcBef>
                <a:spcPts val="0"/>
              </a:spcBef>
              <a:spcAft>
                <a:spcPts val="0"/>
              </a:spcAft>
            </a:pPr>
            <a:r>
              <a:rPr lang="en-US" sz="2800" b="1" dirty="0">
                <a:latin typeface="Times New Roman" panose="02020603050405020304" pitchFamily="18" charset="0"/>
                <a:ea typeface="Times New Roman" panose="02020603050405020304" pitchFamily="18" charset="0"/>
                <a:cs typeface="Times New Roman" panose="02020603050405020304" pitchFamily="18" charset="0"/>
              </a:rPr>
              <a:t>5</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Kale Tub Water</a:t>
            </a:r>
          </a:p>
          <a:p>
            <a:pPr marR="0" lvl="0">
              <a:spcBef>
                <a:spcPts val="0"/>
              </a:spcBef>
              <a:spcAft>
                <a:spcPts val="0"/>
              </a:spcAft>
            </a:pP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pPr>
            <a:r>
              <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rPr>
              <a:t>Variab</a:t>
            </a:r>
            <a:r>
              <a:rPr lang="en-US" sz="3200" b="1" dirty="0">
                <a:latin typeface="Times New Roman" panose="02020603050405020304" pitchFamily="18" charset="0"/>
                <a:ea typeface="Times New Roman" panose="02020603050405020304" pitchFamily="18" charset="0"/>
                <a:cs typeface="Times New Roman" panose="02020603050405020304" pitchFamily="18" charset="0"/>
              </a:rPr>
              <a:t>les and Functions of Model:</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 Conversion efficiency for ammonia into nitrate.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A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1.00) (100%)</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C</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 Concentration of nitrate (ppm) in fish aquarium.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C</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I</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C</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28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Concentration of nitrate (ppm) in kale tub.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C</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P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 0)</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D</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 Percent of nitrate remaining after denitrification </a:t>
            </a:r>
            <a:r>
              <a:rPr lang="en-US" sz="2800" kern="100" dirty="0">
                <a:latin typeface="Times New Roman" panose="02020603050405020304" pitchFamily="18" charset="0"/>
                <a:ea typeface="Calibri" panose="020F0502020204030204" pitchFamily="34" charset="0"/>
                <a:cs typeface="Times New Roman" panose="02020603050405020304" pitchFamily="18" charset="0"/>
              </a:rPr>
              <a:t>in</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aquarium (%).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D</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1.00) (100%)</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E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Transfer rate of water into kale tubs from aquarium (days).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E</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7)</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F</a:t>
            </a:r>
            <a:r>
              <a:rPr lang="en-US" sz="28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Percent of bodyweight of feed fed to tilapia in given day (%).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F</a:t>
            </a: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0.05, 0.03, 0.025, 0.015) (5%, 3%, 2.5%, 1.5%)</a:t>
            </a:r>
          </a:p>
          <a:p>
            <a:pPr>
              <a:lnSpc>
                <a:spcPct val="107000"/>
              </a:lnSpc>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I</a:t>
            </a:r>
            <a:r>
              <a:rPr lang="en-US" sz="28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Initial </a:t>
            </a:r>
            <a:r>
              <a:rPr lang="en-US" sz="2800" kern="100" dirty="0">
                <a:latin typeface="Times New Roman" panose="02020603050405020304" pitchFamily="18" charset="0"/>
                <a:ea typeface="Calibri" panose="020F0502020204030204" pitchFamily="34" charset="0"/>
                <a:cs typeface="Times New Roman" panose="02020603050405020304" pitchFamily="18" charset="0"/>
              </a:rPr>
              <a:t>n</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itrate concentration (ppm) of aquarium. (25%: </a:t>
            </a:r>
            <a:r>
              <a:rPr lang="en-US" sz="2800" b="1" i="1" kern="100" dirty="0">
                <a:latin typeface="Times New Roman" panose="02020603050405020304" pitchFamily="18" charset="0"/>
                <a:ea typeface="Calibri" panose="020F0502020204030204" pitchFamily="34" charset="0"/>
                <a:cs typeface="Times New Roman" panose="02020603050405020304" pitchFamily="18" charset="0"/>
              </a:rPr>
              <a:t>I</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72.6, 40%: </a:t>
            </a:r>
            <a:r>
              <a:rPr lang="en-US" sz="2800" b="1" i="1" kern="100" dirty="0">
                <a:latin typeface="Times New Roman" panose="02020603050405020304" pitchFamily="18" charset="0"/>
                <a:ea typeface="Calibri" panose="020F0502020204030204" pitchFamily="34" charset="0"/>
                <a:cs typeface="Times New Roman" panose="02020603050405020304" pitchFamily="18" charset="0"/>
              </a:rPr>
              <a:t>I</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62.3)</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K</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 Starting day of kale, where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K</a:t>
            </a:r>
            <a:r>
              <a:rPr lang="en-US" sz="28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is a positive multiple of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E.</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K</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28)</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L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Length of experiment (days).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50)</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N</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US" sz="2800"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Number of tilapia.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N</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F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18) </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N</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2800"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Number of plants.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N</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P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6)</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28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Protein percent of tilapia feed.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0.25, 0.40) (25%, 40%)</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R</a:t>
            </a:r>
            <a:r>
              <a:rPr lang="en-US" sz="28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Protein transfer rate from protein to </a:t>
            </a:r>
            <a:r>
              <a:rPr lang="en-US" sz="2800" kern="100" dirty="0">
                <a:latin typeface="Times New Roman" panose="02020603050405020304" pitchFamily="18" charset="0"/>
                <a:ea typeface="Calibri" panose="020F0502020204030204" pitchFamily="34" charset="0"/>
                <a:cs typeface="Times New Roman" panose="02020603050405020304" pitchFamily="18" charset="0"/>
              </a:rPr>
              <a:t>a</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mmonia.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R</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0.092 adjusted to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R</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0.420)</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F</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 Starting age of tilapia (days). (Determined by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W(</a:t>
            </a:r>
            <a:r>
              <a:rPr lang="en-US" sz="2800" b="1" i="1" kern="100" dirty="0" err="1">
                <a:effectLst/>
                <a:latin typeface="Times New Roman" panose="02020603050405020304" pitchFamily="18" charset="0"/>
                <a:ea typeface="Calibri" panose="020F0502020204030204" pitchFamily="34" charset="0"/>
                <a:cs typeface="Times New Roman" panose="02020603050405020304" pitchFamily="18" charset="0"/>
              </a:rPr>
              <a:t>t,P</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 Starting age of kale (days). (Determined by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U(t)</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a:lnSpc>
                <a:spcPct val="107000"/>
              </a:lnSpc>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U(t)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Uptake rate of nitrate (ppm) for one kale plant on given day,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V</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A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Volume of additional water removed during water transfer (liters).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V</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A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9)</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V</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F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Volume of fish aquarium (liters).</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V</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F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76)</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V</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2800"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Volume of kale tub (liters).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V</a:t>
            </a:r>
            <a:r>
              <a:rPr lang="en-US" sz="28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P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9)</a:t>
            </a:r>
          </a:p>
          <a:p>
            <a:pPr marL="0" marR="0">
              <a:lnSpc>
                <a:spcPct val="107000"/>
              </a:lnSpc>
              <a:spcBef>
                <a:spcPts val="0"/>
              </a:spcBef>
              <a:spcAft>
                <a:spcPts val="800"/>
              </a:spcAft>
            </a:pP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W(</a:t>
            </a:r>
            <a:r>
              <a:rPr lang="en-US" sz="2800" b="1" i="1" kern="100" dirty="0" err="1">
                <a:effectLst/>
                <a:latin typeface="Times New Roman" panose="02020603050405020304" pitchFamily="18" charset="0"/>
                <a:ea typeface="Calibri" panose="020F0502020204030204" pitchFamily="34" charset="0"/>
                <a:cs typeface="Times New Roman" panose="02020603050405020304" pitchFamily="18" charset="0"/>
              </a:rPr>
              <a:t>t,P</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Weight of one tilapia</a:t>
            </a:r>
            <a:r>
              <a:rPr lang="en-US" sz="2800" kern="100" dirty="0">
                <a:latin typeface="Times New Roman" panose="02020603050405020304" pitchFamily="18" charset="0"/>
                <a:ea typeface="Calibri" panose="020F0502020204030204" pitchFamily="34" charset="0"/>
                <a:cs typeface="Times New Roman" panose="02020603050405020304" pitchFamily="18" charset="0"/>
              </a:rPr>
              <a:t> (in grams)</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on given day,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while being fed food of protein percent,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W(0,25)</a:t>
            </a: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W(0,40)</a:t>
            </a: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0.69)</a:t>
            </a:r>
          </a:p>
          <a:p>
            <a:pPr marL="0" marR="0">
              <a:lnSpc>
                <a:spcPct val="107000"/>
              </a:lnSpc>
              <a:spcBef>
                <a:spcPts val="0"/>
              </a:spcBef>
              <a:spcAft>
                <a:spcPts val="800"/>
              </a:spcAft>
            </a:pPr>
            <a:endParaRPr lang="en-US" sz="2800" dirty="0">
              <a:latin typeface="Times New Roman" panose="02020603050405020304" pitchFamily="18" charset="0"/>
              <a:cs typeface="Times New Roman" panose="02020603050405020304" pitchFamily="18" charset="0"/>
            </a:endParaRPr>
          </a:p>
          <a:p>
            <a:pPr>
              <a:lnSpc>
                <a:spcPct val="107000"/>
              </a:lnSpc>
            </a:pPr>
            <a:r>
              <a:rPr lang="en-US" sz="1800" b="1" u="none" strike="noStrike" kern="0" dirty="0">
                <a:effectLst/>
                <a:latin typeface="Cambria" panose="02040503050406030204" pitchFamily="18" charset="0"/>
                <a:ea typeface="MingLiU" panose="02020509000000000000" pitchFamily="49" charset="-120"/>
                <a:cs typeface="Calibri" panose="020F0502020204030204" pitchFamily="34" charset="0"/>
              </a:rPr>
              <a:t> </a:t>
            </a:r>
            <a:r>
              <a:rPr lang="en-US" sz="3200" b="1" dirty="0">
                <a:latin typeface="Times New Roman" panose="02020603050405020304" pitchFamily="18" charset="0"/>
                <a:ea typeface="Times New Roman" panose="02020603050405020304" pitchFamily="18" charset="0"/>
                <a:cs typeface="Times New Roman" panose="02020603050405020304" pitchFamily="18" charset="0"/>
              </a:rPr>
              <a:t>Important Assumptions to Note:</a:t>
            </a:r>
            <a:endPar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pP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Conversion of ammonia to nitrate is 1:1 (follows from </a:t>
            </a:r>
            <a:r>
              <a:rPr lang="en-US" sz="2800" i="1" dirty="0">
                <a:effectLst/>
                <a:latin typeface="Times New Roman" panose="02020603050405020304" pitchFamily="18" charset="0"/>
              </a:rPr>
              <a:t>Ebeling, J. M. et</a:t>
            </a:r>
            <a:r>
              <a:rPr lang="en-US" sz="2800" i="1" dirty="0">
                <a:latin typeface="Times New Roman" panose="02020603050405020304" pitchFamily="18" charset="0"/>
                <a:cs typeface="Times New Roman" panose="02020603050405020304" pitchFamily="18" charset="0"/>
              </a:rPr>
              <a:t>.al., 2006</a:t>
            </a:r>
            <a:r>
              <a:rPr lang="en-US" sz="2800" dirty="0">
                <a:latin typeface="Times New Roman" panose="02020603050405020304" pitchFamily="18" charset="0"/>
                <a:cs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spcBef>
                <a:spcPts val="0"/>
              </a:spcBef>
              <a:spcAft>
                <a:spcPts val="0"/>
              </a:spcAft>
            </a:pPr>
            <a:r>
              <a:rPr lang="en-US" sz="2800" b="1" dirty="0">
                <a:latin typeface="Times New Roman" panose="02020603050405020304" pitchFamily="18" charset="0"/>
                <a:ea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All protein-entered ammonia is converted during a single day, not by a determined rate. It then follows that the given nitrate concentration determined by the model is suited for only integer days, as rate is unknown, but maximum amount of nitrate increase is capped.</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b="1" u="none" strike="noStrike" kern="0" dirty="0">
                <a:effectLst/>
                <a:latin typeface="Cambria" panose="02040503050406030204" pitchFamily="18" charset="0"/>
                <a:ea typeface="MingLiU" panose="02020509000000000000" pitchFamily="49" charset="-120"/>
                <a:cs typeface="Calibri" panose="020F0502020204030204" pitchFamily="34"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b="1" u="none" strike="noStrike" kern="0" dirty="0">
                <a:effectLst/>
                <a:latin typeface="Cambria" panose="02040503050406030204" pitchFamily="18" charset="0"/>
                <a:ea typeface="MingLiU" panose="02020509000000000000" pitchFamily="49" charset="-120"/>
                <a:cs typeface="Calibri" panose="020F0502020204030204" pitchFamily="34"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b="1" u="none" strike="noStrike" kern="0" dirty="0">
                <a:effectLst/>
                <a:latin typeface="Cambria" panose="02040503050406030204" pitchFamily="18" charset="0"/>
                <a:ea typeface="MingLiU" panose="02020509000000000000" pitchFamily="49" charset="-120"/>
                <a:cs typeface="Calibri" panose="020F0502020204030204" pitchFamily="34"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b="1" u="none" strike="noStrike" kern="0" dirty="0">
                <a:effectLst/>
                <a:latin typeface="Cambria" panose="02040503050406030204" pitchFamily="18" charset="0"/>
                <a:ea typeface="MingLiU" panose="02020509000000000000" pitchFamily="49" charset="-120"/>
                <a:cs typeface="Calibri" panose="020F0502020204030204" pitchFamily="34"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b="1" u="none" strike="noStrike" kern="0" dirty="0">
                <a:effectLst/>
                <a:latin typeface="Cambria" panose="02040503050406030204" pitchFamily="18" charset="0"/>
                <a:ea typeface="MingLiU" panose="02020509000000000000" pitchFamily="49" charset="-120"/>
                <a:cs typeface="Calibri" panose="020F0502020204030204" pitchFamily="34"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R="0" lvl="0">
              <a:spcBef>
                <a:spcPts val="0"/>
              </a:spcBef>
              <a:spcAft>
                <a:spcPts val="0"/>
              </a:spcAft>
            </a:pPr>
            <a:endParaRPr lang="en-US" sz="4800" dirty="0">
              <a:latin typeface="Times New Roman" panose="02020603050405020304" pitchFamily="18" charset="0"/>
              <a:cs typeface="Times New Roman" panose="02020603050405020304" pitchFamily="18" charset="0"/>
            </a:endParaRPr>
          </a:p>
          <a:p>
            <a:pPr>
              <a:spcBef>
                <a:spcPts val="3000"/>
              </a:spcBef>
            </a:pPr>
            <a:endParaRPr lang="en-US" sz="3200" dirty="0">
              <a:latin typeface="Times New Roman" panose="02020603050405020304" pitchFamily="18" charset="0"/>
              <a:cs typeface="Times New Roman" panose="02020603050405020304" pitchFamily="18" charset="0"/>
            </a:endParaRPr>
          </a:p>
          <a:p>
            <a:pPr marL="685800" indent="-685800">
              <a:spcBef>
                <a:spcPts val="3000"/>
              </a:spcBef>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685800" indent="-685800">
              <a:buFont typeface="Arial" panose="020B0604020202020204" pitchFamily="34" charset="0"/>
              <a:buChar char="•"/>
            </a:pPr>
            <a:r>
              <a:rPr lang="en-US" sz="4800" dirty="0">
                <a:latin typeface="Times New Roman" panose="02020603050405020304" pitchFamily="18" charset="0"/>
                <a:cs typeface="Times New Roman" panose="02020603050405020304" pitchFamily="18" charset="0"/>
              </a:rPr>
              <a:t>c</a:t>
            </a:r>
          </a:p>
        </p:txBody>
      </p:sp>
      <p:sp>
        <p:nvSpPr>
          <p:cNvPr id="44" name="TextBox 43">
            <a:extLst>
              <a:ext uri="{FF2B5EF4-FFF2-40B4-BE49-F238E27FC236}">
                <a16:creationId xmlns:a16="http://schemas.microsoft.com/office/drawing/2014/main" id="{1275C5A1-90A8-EBC9-3F40-E110E987281E}"/>
              </a:ext>
            </a:extLst>
          </p:cNvPr>
          <p:cNvSpPr txBox="1"/>
          <p:nvPr/>
        </p:nvSpPr>
        <p:spPr>
          <a:xfrm flipH="1">
            <a:off x="29854226" y="32452330"/>
            <a:ext cx="13111888" cy="584775"/>
          </a:xfrm>
          <a:prstGeom prst="rect">
            <a:avLst/>
          </a:prstGeom>
          <a:solidFill>
            <a:schemeClr val="accent5">
              <a:lumMod val="60000"/>
              <a:lumOff val="40000"/>
            </a:schemeClr>
          </a:solidFill>
          <a:ln>
            <a:noFill/>
          </a:ln>
          <a:effectLst/>
        </p:spPr>
        <p:txBody>
          <a:bodyPr wrap="square" rtlCol="0">
            <a:spAutoFit/>
          </a:body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Acknowledgments</a:t>
            </a:r>
          </a:p>
        </p:txBody>
      </p:sp>
      <p:sp>
        <p:nvSpPr>
          <p:cNvPr id="45" name="TextBox 44">
            <a:extLst>
              <a:ext uri="{FF2B5EF4-FFF2-40B4-BE49-F238E27FC236}">
                <a16:creationId xmlns:a16="http://schemas.microsoft.com/office/drawing/2014/main" id="{9ED01ABF-C969-F6D6-DA84-46D2BC58DE5D}"/>
              </a:ext>
            </a:extLst>
          </p:cNvPr>
          <p:cNvSpPr txBox="1"/>
          <p:nvPr/>
        </p:nvSpPr>
        <p:spPr>
          <a:xfrm flipH="1">
            <a:off x="29887536" y="26546370"/>
            <a:ext cx="13092955" cy="584775"/>
          </a:xfrm>
          <a:prstGeom prst="rect">
            <a:avLst/>
          </a:prstGeom>
          <a:solidFill>
            <a:schemeClr val="accent5">
              <a:lumMod val="60000"/>
              <a:lumOff val="40000"/>
            </a:schemeClr>
          </a:solidFill>
          <a:ln>
            <a:noFill/>
          </a:ln>
          <a:effectLst/>
        </p:spPr>
        <p:txBody>
          <a:bodyPr wrap="square" rtlCol="0">
            <a:spAutoFit/>
          </a:body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Sources Cited</a:t>
            </a:r>
          </a:p>
        </p:txBody>
      </p:sp>
      <p:sp>
        <p:nvSpPr>
          <p:cNvPr id="1041" name="Rectangle 1040">
            <a:extLst>
              <a:ext uri="{FF2B5EF4-FFF2-40B4-BE49-F238E27FC236}">
                <a16:creationId xmlns:a16="http://schemas.microsoft.com/office/drawing/2014/main" id="{0E027134-4B99-BAA9-C6AE-9A5B146913EF}"/>
              </a:ext>
            </a:extLst>
          </p:cNvPr>
          <p:cNvSpPr/>
          <p:nvPr/>
        </p:nvSpPr>
        <p:spPr>
          <a:xfrm>
            <a:off x="15059968" y="16315567"/>
            <a:ext cx="13849997" cy="19477691"/>
          </a:xfrm>
          <a:prstGeom prst="rect">
            <a:avLst/>
          </a:prstGeom>
          <a:solidFill>
            <a:schemeClr val="bg1"/>
          </a:solidFill>
          <a:ln w="288925">
            <a:solidFill>
              <a:schemeClr val="accent5">
                <a:lumMod val="60000"/>
                <a:lumOff val="40000"/>
              </a:schemeClr>
            </a:solidFill>
          </a:ln>
          <a:effectLst>
            <a:glow rad="63500">
              <a:schemeClr val="accent6">
                <a:satMod val="175000"/>
                <a:alpha val="40000"/>
              </a:schemeClr>
            </a:glow>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43" name="TextBox 1042">
            <a:extLst>
              <a:ext uri="{FF2B5EF4-FFF2-40B4-BE49-F238E27FC236}">
                <a16:creationId xmlns:a16="http://schemas.microsoft.com/office/drawing/2014/main" id="{ABE34FA0-4F6B-FF15-A6D4-71F113B7626B}"/>
              </a:ext>
            </a:extLst>
          </p:cNvPr>
          <p:cNvSpPr txBox="1"/>
          <p:nvPr/>
        </p:nvSpPr>
        <p:spPr>
          <a:xfrm flipH="1">
            <a:off x="15073193" y="16250634"/>
            <a:ext cx="13865717" cy="769441"/>
          </a:xfrm>
          <a:prstGeom prst="rect">
            <a:avLst/>
          </a:prstGeom>
          <a:solidFill>
            <a:schemeClr val="accent5">
              <a:lumMod val="60000"/>
              <a:lumOff val="40000"/>
            </a:schemeClr>
          </a:solidFill>
          <a:ln>
            <a:noFill/>
          </a:ln>
          <a:effectLst/>
        </p:spPr>
        <p:txBody>
          <a:bodyPr wrap="square" rtlCol="0">
            <a:spAutoFit/>
          </a:bodyPr>
          <a:lstStyle/>
          <a:p>
            <a:pPr algn="ct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Creation and Implementation of Model</a:t>
            </a:r>
          </a:p>
        </p:txBody>
      </p:sp>
      <p:sp>
        <p:nvSpPr>
          <p:cNvPr id="72" name="TextBox 71">
            <a:extLst>
              <a:ext uri="{FF2B5EF4-FFF2-40B4-BE49-F238E27FC236}">
                <a16:creationId xmlns:a16="http://schemas.microsoft.com/office/drawing/2014/main" id="{FB789B4F-BAFF-4789-9CC5-88B27D2E8A06}"/>
              </a:ext>
            </a:extLst>
          </p:cNvPr>
          <p:cNvSpPr txBox="1"/>
          <p:nvPr/>
        </p:nvSpPr>
        <p:spPr>
          <a:xfrm>
            <a:off x="29909639" y="33016277"/>
            <a:ext cx="13111888" cy="2246769"/>
          </a:xfrm>
          <a:prstGeom prst="rect">
            <a:avLst/>
          </a:prstGeom>
          <a:noFill/>
        </p:spPr>
        <p:txBody>
          <a:bodyPr wrap="square" rtlCol="0">
            <a:spAutoFit/>
          </a:bodyPr>
          <a:lstStyle/>
          <a:p>
            <a:pPr>
              <a:spcBef>
                <a:spcPts val="3000"/>
              </a:spcBef>
            </a:pPr>
            <a:r>
              <a:rPr lang="en-US" sz="2800" dirty="0">
                <a:latin typeface="Times New Roman" panose="02020603050405020304" pitchFamily="18" charset="0"/>
                <a:cs typeface="Times New Roman" panose="02020603050405020304" pitchFamily="18" charset="0"/>
              </a:rPr>
              <a:t>I would like to thank the York College Biology Department for making this research possible and providing the resources for our ongoing study. I would also like to thank Dr. Smith, Dr. Blanding, and Dr. Kaplan for their assistance in portions of this project. Lastly, I am extremely grateful for Dr. Nolan’s support and guidance throughout the entirety of this research project and am excited to continue working alongside her.</a:t>
            </a:r>
          </a:p>
        </p:txBody>
      </p:sp>
      <p:sp>
        <p:nvSpPr>
          <p:cNvPr id="78" name="TextBox 77">
            <a:extLst>
              <a:ext uri="{FF2B5EF4-FFF2-40B4-BE49-F238E27FC236}">
                <a16:creationId xmlns:a16="http://schemas.microsoft.com/office/drawing/2014/main" id="{789FCB40-A051-4CA1-9231-9D6206BBF4E4}"/>
              </a:ext>
            </a:extLst>
          </p:cNvPr>
          <p:cNvSpPr txBox="1"/>
          <p:nvPr/>
        </p:nvSpPr>
        <p:spPr>
          <a:xfrm>
            <a:off x="29368188" y="35481825"/>
            <a:ext cx="14231181" cy="954107"/>
          </a:xfrm>
          <a:prstGeom prst="rect">
            <a:avLst/>
          </a:prstGeom>
          <a:noFill/>
        </p:spPr>
        <p:txBody>
          <a:bodyPr wrap="square" rtlCol="0">
            <a:spAutoFit/>
          </a:bodyPr>
          <a:lstStyle/>
          <a:p>
            <a:pPr algn="ctr">
              <a:spcBef>
                <a:spcPts val="3000"/>
              </a:spcBef>
            </a:pPr>
            <a:r>
              <a:rPr lang="en-US" sz="2800" b="1" dirty="0">
                <a:latin typeface="Times New Roman" panose="02020603050405020304" pitchFamily="18" charset="0"/>
                <a:cs typeface="Times New Roman" panose="02020603050405020304" pitchFamily="18" charset="0"/>
              </a:rPr>
              <a:t>All research activities in this study were approved by the York College of Pennsylvania Institutional Animal Care and Use Committee (IACUC).</a:t>
            </a:r>
          </a:p>
        </p:txBody>
      </p:sp>
      <p:sp>
        <p:nvSpPr>
          <p:cNvPr id="40" name="Rectangle 39">
            <a:extLst>
              <a:ext uri="{FF2B5EF4-FFF2-40B4-BE49-F238E27FC236}">
                <a16:creationId xmlns:a16="http://schemas.microsoft.com/office/drawing/2014/main" id="{B2569182-A5BE-BB93-7CB3-B70A45A365A4}"/>
              </a:ext>
            </a:extLst>
          </p:cNvPr>
          <p:cNvSpPr/>
          <p:nvPr/>
        </p:nvSpPr>
        <p:spPr>
          <a:xfrm>
            <a:off x="29751530" y="21167471"/>
            <a:ext cx="13364567" cy="4915372"/>
          </a:xfrm>
          <a:prstGeom prst="rect">
            <a:avLst/>
          </a:prstGeom>
          <a:solidFill>
            <a:schemeClr val="bg1"/>
          </a:solidFill>
          <a:ln w="288925">
            <a:solidFill>
              <a:schemeClr val="accent5">
                <a:lumMod val="60000"/>
                <a:lumOff val="40000"/>
              </a:schemeClr>
            </a:solidFill>
          </a:ln>
          <a:effectLst>
            <a:glow rad="63500">
              <a:schemeClr val="accent6">
                <a:satMod val="175000"/>
                <a:alpha val="40000"/>
              </a:schemeClr>
            </a:glow>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2" name="TextBox 41">
            <a:extLst>
              <a:ext uri="{FF2B5EF4-FFF2-40B4-BE49-F238E27FC236}">
                <a16:creationId xmlns:a16="http://schemas.microsoft.com/office/drawing/2014/main" id="{5B694A63-318D-1CB1-9697-F9DB983331B4}"/>
              </a:ext>
            </a:extLst>
          </p:cNvPr>
          <p:cNvSpPr txBox="1"/>
          <p:nvPr/>
        </p:nvSpPr>
        <p:spPr>
          <a:xfrm flipH="1">
            <a:off x="29819736" y="21064850"/>
            <a:ext cx="13364565" cy="769441"/>
          </a:xfrm>
          <a:prstGeom prst="rect">
            <a:avLst/>
          </a:prstGeom>
          <a:solidFill>
            <a:schemeClr val="accent5">
              <a:lumMod val="60000"/>
              <a:lumOff val="40000"/>
            </a:schemeClr>
          </a:solidFill>
          <a:ln>
            <a:noFill/>
          </a:ln>
          <a:effectLst/>
        </p:spPr>
        <p:txBody>
          <a:bodyPr wrap="square" rtlCol="0">
            <a:spAutoFit/>
          </a:bodyPr>
          <a:lstStyle/>
          <a:p>
            <a:pPr algn="ct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 and Future Research</a:t>
            </a:r>
          </a:p>
        </p:txBody>
      </p:sp>
      <p:pic>
        <p:nvPicPr>
          <p:cNvPr id="1028" name="Picture 4" descr="York College of Pennsylvania Student Priorities - University Innovation">
            <a:extLst>
              <a:ext uri="{FF2B5EF4-FFF2-40B4-BE49-F238E27FC236}">
                <a16:creationId xmlns:a16="http://schemas.microsoft.com/office/drawing/2014/main" id="{ECE604F0-37B1-6071-FEE3-4C5279056B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60091" y="257563"/>
            <a:ext cx="7548774" cy="331429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Nitrate - Définition et Explications">
            <a:extLst>
              <a:ext uri="{FF2B5EF4-FFF2-40B4-BE49-F238E27FC236}">
                <a16:creationId xmlns:a16="http://schemas.microsoft.com/office/drawing/2014/main" id="{238F4CB8-03A8-B994-B343-F71DF2D570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9428" y="166348"/>
            <a:ext cx="3724406" cy="339598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0F1B82A-D989-51DE-716F-C25E3D537E0D}"/>
                  </a:ext>
                </a:extLst>
              </p:cNvPr>
              <p:cNvSpPr txBox="1"/>
              <p:nvPr/>
            </p:nvSpPr>
            <p:spPr>
              <a:xfrm>
                <a:off x="15381922" y="6088686"/>
                <a:ext cx="13534451" cy="1475853"/>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3200" i="1" kern="10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𝑑𝐶</m:t>
                          </m:r>
                        </m:num>
                        <m:den>
                          <m:r>
                            <a:rPr lang="en-US" sz="32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n-US" sz="32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3200" i="1" kern="1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dPr>
                        <m:e>
                          <m:d>
                            <m:dPr>
                              <m:ctrlPr>
                                <a:rPr lang="en-US" sz="3200" i="1" kern="100">
                                  <a:solidFill>
                                    <a:schemeClr val="tx1"/>
                                  </a:solidFill>
                                  <a:latin typeface="Cambria Math" panose="02040503050406030204" pitchFamily="18" charset="0"/>
                                  <a:ea typeface="MingLiU" panose="02020509000000000000" pitchFamily="49" charset="-120"/>
                                  <a:cs typeface="Calibri" panose="020F0502020204030204" pitchFamily="34" charset="0"/>
                                </a:rPr>
                              </m:ctrlPr>
                            </m:dPr>
                            <m:e>
                              <m:sSub>
                                <m:sSubPr>
                                  <m:ctrlPr>
                                    <a:rPr lang="en-US" sz="3200" i="1">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𝐴𝐷𝐹</m:t>
                                  </m:r>
                                  <m:r>
                                    <a:rPr lang="en-US" sz="3200" i="1">
                                      <a:solidFill>
                                        <a:schemeClr val="tx1"/>
                                      </a:solidFill>
                                      <a:latin typeface="Cambria Math" panose="02040503050406030204" pitchFamily="18" charset="0"/>
                                    </a:rPr>
                                    <m:t>𝑁</m:t>
                                  </m:r>
                                </m:e>
                                <m:sub>
                                  <m:r>
                                    <a:rPr lang="en-US" sz="3200" i="1">
                                      <a:solidFill>
                                        <a:schemeClr val="tx1"/>
                                      </a:solidFill>
                                      <a:latin typeface="Cambria Math" panose="02040503050406030204" pitchFamily="18" charset="0"/>
                                    </a:rPr>
                                    <m:t>𝐹</m:t>
                                  </m:r>
                                </m:sub>
                              </m:sSub>
                              <m:r>
                                <a:rPr lang="en-US" sz="3200" b="0" i="1" smtClean="0">
                                  <a:solidFill>
                                    <a:schemeClr val="tx1"/>
                                  </a:solidFill>
                                  <a:latin typeface="Cambria Math" panose="02040503050406030204" pitchFamily="18" charset="0"/>
                                </a:rPr>
                                <m:t>𝑃</m:t>
                              </m:r>
                              <m:r>
                                <a:rPr lang="en-US" sz="3200" i="1">
                                  <a:solidFill>
                                    <a:schemeClr val="tx1"/>
                                  </a:solidFill>
                                  <a:latin typeface="Cambria Math" panose="02040503050406030204" pitchFamily="18" charset="0"/>
                                </a:rPr>
                                <m:t>𝑅</m:t>
                              </m:r>
                            </m:e>
                          </m:d>
                          <m:d>
                            <m:dPr>
                              <m:ctrlP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ctrlPr>
                            </m:dPr>
                            <m:e>
                              <m:f>
                                <m:fPr>
                                  <m:ctrlP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ctrlPr>
                                </m:fPr>
                                <m:num>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1000</m:t>
                                  </m:r>
                                </m:num>
                                <m:den>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𝑉</m:t>
                                  </m:r>
                                </m:den>
                              </m:f>
                            </m:e>
                          </m:d>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m:t>
                          </m:r>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𝑊</m:t>
                          </m:r>
                          <m:d>
                            <m:dPr>
                              <m:ctrlP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ctrlPr>
                            </m:dPr>
                            <m:e>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𝑡</m:t>
                              </m:r>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m:t>
                              </m:r>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𝑃</m:t>
                              </m:r>
                            </m:e>
                          </m:d>
                        </m:e>
                      </m:d>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m:t>
                      </m:r>
                      <m:d>
                        <m:dPr>
                          <m:begChr m:val="["/>
                          <m:endChr m:val="]"/>
                          <m:ctrlP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ctrlPr>
                        </m:dPr>
                        <m:e>
                          <m:sSub>
                            <m:sSubPr>
                              <m:ctrlP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ctrlPr>
                            </m:sSubPr>
                            <m:e>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m:t>
                              </m:r>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𝑁</m:t>
                              </m:r>
                            </m:e>
                            <m:sub>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𝑃</m:t>
                              </m:r>
                            </m:sub>
                          </m:sSub>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m:t>
                          </m:r>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𝑈</m:t>
                          </m:r>
                          <m:d>
                            <m:dPr>
                              <m:ctrlP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ctrlPr>
                            </m:dPr>
                            <m:e>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𝑡</m:t>
                              </m:r>
                            </m:e>
                          </m:d>
                          <m:r>
                            <a:rPr lang="en-US" sz="3200" i="1" kern="100">
                              <a:solidFill>
                                <a:schemeClr val="tx1"/>
                              </a:solidFill>
                              <a:effectLst/>
                              <a:latin typeface="Cambria Math" panose="02040503050406030204" pitchFamily="18" charset="0"/>
                              <a:ea typeface="MingLiU" panose="02020509000000000000" pitchFamily="49" charset="-120"/>
                              <a:cs typeface="Calibri" panose="020F0502020204030204" pitchFamily="34" charset="0"/>
                            </a:rPr>
                            <m:t>)</m:t>
                          </m:r>
                        </m:e>
                      </m:d>
                    </m:oMath>
                  </m:oMathPara>
                </a14:m>
                <a:endParaRPr lang="en-US" sz="3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solidFill>
                    <a:schemeClr val="tx1"/>
                  </a:solidFill>
                </a:endParaRPr>
              </a:p>
            </p:txBody>
          </p:sp>
        </mc:Choice>
        <mc:Fallback xmlns="">
          <p:sp>
            <p:nvSpPr>
              <p:cNvPr id="3" name="TextBox 2">
                <a:extLst>
                  <a:ext uri="{FF2B5EF4-FFF2-40B4-BE49-F238E27FC236}">
                    <a16:creationId xmlns:a16="http://schemas.microsoft.com/office/drawing/2014/main" id="{E0F1B82A-D989-51DE-716F-C25E3D537E0D}"/>
                  </a:ext>
                </a:extLst>
              </p:cNvPr>
              <p:cNvSpPr txBox="1">
                <a:spLocks noRot="1" noChangeAspect="1" noMove="1" noResize="1" noEditPoints="1" noAdjustHandles="1" noChangeArrowheads="1" noChangeShapeType="1" noTextEdit="1"/>
              </p:cNvSpPr>
              <p:nvPr/>
            </p:nvSpPr>
            <p:spPr>
              <a:xfrm>
                <a:off x="15381922" y="6088686"/>
                <a:ext cx="13534451" cy="1475853"/>
              </a:xfrm>
              <a:prstGeom prst="rect">
                <a:avLst/>
              </a:prstGeom>
              <a:blipFill>
                <a:blip r:embed="rId5"/>
                <a:stretch>
                  <a:fillRect/>
                </a:stretch>
              </a:blipFill>
              <a:ln>
                <a:no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1AADA4FA-E18F-C881-31FE-B662C212D3F9}"/>
              </a:ext>
            </a:extLst>
          </p:cNvPr>
          <p:cNvSpPr txBox="1"/>
          <p:nvPr/>
        </p:nvSpPr>
        <p:spPr>
          <a:xfrm>
            <a:off x="15414861" y="4865754"/>
            <a:ext cx="13291000" cy="1077218"/>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By our considerations, in a </a:t>
            </a:r>
            <a:r>
              <a:rPr lang="en-US" sz="3200" b="1" dirty="0">
                <a:latin typeface="Times New Roman" panose="02020603050405020304" pitchFamily="18" charset="0"/>
                <a:cs typeface="Times New Roman" panose="02020603050405020304" pitchFamily="18" charset="0"/>
              </a:rPr>
              <a:t>coupled</a:t>
            </a:r>
            <a:r>
              <a:rPr lang="en-US" sz="3200" dirty="0">
                <a:latin typeface="Times New Roman" panose="02020603050405020304" pitchFamily="18" charset="0"/>
                <a:cs typeface="Times New Roman" panose="02020603050405020304" pitchFamily="18" charset="0"/>
              </a:rPr>
              <a:t> aquaponics system, the concentration, </a:t>
            </a:r>
            <a:r>
              <a:rPr lang="en-US" sz="3200" b="1" i="1" dirty="0">
                <a:latin typeface="Times New Roman" panose="02020603050405020304" pitchFamily="18" charset="0"/>
                <a:cs typeface="Times New Roman" panose="02020603050405020304" pitchFamily="18" charset="0"/>
              </a:rPr>
              <a:t>C</a:t>
            </a:r>
            <a:r>
              <a:rPr lang="en-US" sz="3200" dirty="0">
                <a:latin typeface="Times New Roman" panose="02020603050405020304" pitchFamily="18" charset="0"/>
                <a:cs typeface="Times New Roman" panose="02020603050405020304" pitchFamily="18" charset="0"/>
              </a:rPr>
              <a:t>, of nitrate (ppm) can be roughly represented with the differential equation :</a:t>
            </a:r>
          </a:p>
        </p:txBody>
      </p:sp>
      <p:sp>
        <p:nvSpPr>
          <p:cNvPr id="9" name="TextBox 8">
            <a:extLst>
              <a:ext uri="{FF2B5EF4-FFF2-40B4-BE49-F238E27FC236}">
                <a16:creationId xmlns:a16="http://schemas.microsoft.com/office/drawing/2014/main" id="{136D9E27-3A4C-ED5D-5FC7-16CAB2BCB6D1}"/>
              </a:ext>
            </a:extLst>
          </p:cNvPr>
          <p:cNvSpPr txBox="1"/>
          <p:nvPr/>
        </p:nvSpPr>
        <p:spPr>
          <a:xfrm>
            <a:off x="15321886" y="7407889"/>
            <a:ext cx="13248519" cy="1569660"/>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However, we can adjust this for our assumed, </a:t>
            </a:r>
            <a:r>
              <a:rPr lang="en-US" sz="3200" b="1" dirty="0">
                <a:latin typeface="Times New Roman" panose="02020603050405020304" pitchFamily="18" charset="0"/>
                <a:cs typeface="Times New Roman" panose="02020603050405020304" pitchFamily="18" charset="0"/>
              </a:rPr>
              <a:t>decoupled</a:t>
            </a:r>
            <a:r>
              <a:rPr lang="en-US" sz="3200" dirty="0">
                <a:latin typeface="Times New Roman" panose="02020603050405020304" pitchFamily="18" charset="0"/>
                <a:cs typeface="Times New Roman" panose="02020603050405020304" pitchFamily="18" charset="0"/>
              </a:rPr>
              <a:t> system with this </a:t>
            </a:r>
            <a:r>
              <a:rPr lang="en-US" sz="3200" b="1" dirty="0">
                <a:latin typeface="Times New Roman" panose="02020603050405020304" pitchFamily="18" charset="0"/>
                <a:cs typeface="Times New Roman" panose="02020603050405020304" pitchFamily="18" charset="0"/>
              </a:rPr>
              <a:t>recursive</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piecewise</a:t>
            </a:r>
            <a:r>
              <a:rPr lang="en-US" sz="3200" dirty="0">
                <a:latin typeface="Times New Roman" panose="02020603050405020304" pitchFamily="18" charset="0"/>
                <a:cs typeface="Times New Roman" panose="02020603050405020304" pitchFamily="18" charset="0"/>
              </a:rPr>
              <a:t> model for nitrate in the fish aquarium, </a:t>
            </a:r>
            <a:r>
              <a:rPr lang="en-US" sz="3200" b="1" dirty="0">
                <a:latin typeface="Times New Roman" panose="02020603050405020304" pitchFamily="18" charset="0"/>
                <a:cs typeface="Times New Roman" panose="02020603050405020304" pitchFamily="18" charset="0"/>
              </a:rPr>
              <a:t>C</a:t>
            </a:r>
            <a:r>
              <a:rPr lang="en-US" sz="3200" b="1" baseline="-25000" dirty="0">
                <a:latin typeface="Times New Roman" panose="02020603050405020304" pitchFamily="18" charset="0"/>
                <a:cs typeface="Times New Roman" panose="02020603050405020304" pitchFamily="18" charset="0"/>
              </a:rPr>
              <a:t>F</a:t>
            </a:r>
            <a:r>
              <a:rPr lang="en-US" sz="3200" baseline="-250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 and nitrate in the kale tub, </a:t>
            </a:r>
            <a:r>
              <a:rPr lang="en-US" sz="3200" b="1" dirty="0">
                <a:latin typeface="Times New Roman" panose="02020603050405020304" pitchFamily="18" charset="0"/>
                <a:cs typeface="Times New Roman" panose="02020603050405020304" pitchFamily="18" charset="0"/>
              </a:rPr>
              <a:t>C</a:t>
            </a:r>
            <a:r>
              <a:rPr lang="en-US" sz="3200" b="1" baseline="-25000" dirty="0">
                <a:latin typeface="Times New Roman" panose="02020603050405020304" pitchFamily="18" charset="0"/>
                <a:cs typeface="Times New Roman" panose="02020603050405020304" pitchFamily="18" charset="0"/>
              </a:rPr>
              <a:t>P</a:t>
            </a:r>
            <a:r>
              <a:rPr lang="en-US" sz="3200" baseline="-250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5F1D0CA-8879-603D-1AFE-739774A10763}"/>
                  </a:ext>
                </a:extLst>
              </p:cNvPr>
              <p:cNvSpPr txBox="1"/>
              <p:nvPr/>
            </p:nvSpPr>
            <p:spPr>
              <a:xfrm>
                <a:off x="14890375" y="8645479"/>
                <a:ext cx="14184914" cy="32104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2380" smtClean="0">
                          <a:solidFill>
                            <a:schemeClr val="tx1"/>
                          </a:solidFill>
                        </a:rPr>
                        <m:t> </m:t>
                      </m:r>
                    </m:oMath>
                  </m:oMathPara>
                </a14:m>
                <a:endParaRPr lang="en-US" sz="2380"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US" sz="2380" i="1" smtClean="0">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𝐶</m:t>
                          </m:r>
                        </m:e>
                        <m:sub>
                          <m:r>
                            <a:rPr lang="en-US" sz="2380" i="1">
                              <a:solidFill>
                                <a:schemeClr val="tx1"/>
                              </a:solidFill>
                              <a:latin typeface="Cambria Math" panose="02040503050406030204" pitchFamily="18" charset="0"/>
                            </a:rPr>
                            <m:t>𝐹</m:t>
                          </m:r>
                        </m:sub>
                      </m:sSub>
                      <m:d>
                        <m:dPr>
                          <m:ctrlPr>
                            <a:rPr lang="en-US" sz="2380" i="1">
                              <a:solidFill>
                                <a:schemeClr val="tx1"/>
                              </a:solidFill>
                              <a:latin typeface="Cambria Math" panose="02040503050406030204" pitchFamily="18" charset="0"/>
                            </a:rPr>
                          </m:ctrlPr>
                        </m:dPr>
                        <m:e>
                          <m:r>
                            <a:rPr lang="en-US" sz="2380" i="1">
                              <a:solidFill>
                                <a:schemeClr val="tx1"/>
                              </a:solidFill>
                              <a:latin typeface="Cambria Math" panose="02040503050406030204" pitchFamily="18" charset="0"/>
                            </a:rPr>
                            <m:t>𝑡</m:t>
                          </m:r>
                        </m:e>
                      </m:d>
                      <m:r>
                        <a:rPr lang="en-US" sz="2380" i="1">
                          <a:solidFill>
                            <a:schemeClr val="tx1"/>
                          </a:solidFill>
                          <a:latin typeface="Cambria Math" panose="02040503050406030204" pitchFamily="18" charset="0"/>
                        </a:rPr>
                        <m:t>=</m:t>
                      </m:r>
                      <m:d>
                        <m:dPr>
                          <m:begChr m:val="{"/>
                          <m:endChr m:val=""/>
                          <m:ctrlPr>
                            <a:rPr lang="en-US" sz="2380" i="1">
                              <a:solidFill>
                                <a:schemeClr val="tx1"/>
                              </a:solidFill>
                              <a:latin typeface="Cambria Math" panose="02040503050406030204" pitchFamily="18" charset="0"/>
                            </a:rPr>
                          </m:ctrlPr>
                        </m:dPr>
                        <m:e>
                          <m:eqArr>
                            <m:eqArrPr>
                              <m:ctrlPr>
                                <a:rPr lang="en-US" sz="2380" i="1">
                                  <a:solidFill>
                                    <a:schemeClr val="tx1"/>
                                  </a:solidFill>
                                  <a:latin typeface="Cambria Math" panose="02040503050406030204" pitchFamily="18" charset="0"/>
                                </a:rPr>
                              </m:ctrlPr>
                            </m:eqArrPr>
                            <m:e>
                              <m:r>
                                <a:rPr lang="en-US" sz="2380" b="0" i="1" smtClean="0">
                                  <a:solidFill>
                                    <a:schemeClr val="tx1"/>
                                  </a:solidFill>
                                  <a:latin typeface="Cambria Math" panose="02040503050406030204" pitchFamily="18" charset="0"/>
                                </a:rPr>
                                <m:t>𝐼</m:t>
                              </m:r>
                              <m:r>
                                <a:rPr lang="en-US" sz="2380" b="0" i="0" smtClean="0">
                                  <a:solidFill>
                                    <a:schemeClr val="tx1"/>
                                  </a:solidFill>
                                  <a:latin typeface="Cambria Math" panose="02040503050406030204" pitchFamily="18" charset="0"/>
                                </a:rPr>
                                <m:t>,</m:t>
                              </m:r>
                              <m:r>
                                <a:rPr lang="en-US" sz="2380" i="0">
                                  <a:solidFill>
                                    <a:schemeClr val="tx1"/>
                                  </a:solidFill>
                                  <a:latin typeface="Cambria Math" panose="02040503050406030204" pitchFamily="18" charset="0"/>
                                </a:rPr>
                                <m:t>  </m:t>
                              </m:r>
                              <m:r>
                                <a:rPr lang="en-US" sz="2380" i="1">
                                  <a:solidFill>
                                    <a:schemeClr val="tx1"/>
                                  </a:solidFill>
                                  <a:latin typeface="Cambria Math" panose="02040503050406030204" pitchFamily="18" charset="0"/>
                                </a:rPr>
                                <m:t>                                                                                                                        </m:t>
                              </m:r>
                              <m:r>
                                <a:rPr lang="en-US" sz="2380" i="1">
                                  <a:solidFill>
                                    <a:schemeClr val="tx1"/>
                                  </a:solidFill>
                                  <a:latin typeface="Cambria Math" panose="02040503050406030204" pitchFamily="18" charset="0"/>
                                </a:rPr>
                                <m:t>𝑡</m:t>
                              </m:r>
                              <m:r>
                                <a:rPr lang="en-US" sz="2380" i="1">
                                  <a:solidFill>
                                    <a:schemeClr val="tx1"/>
                                  </a:solidFill>
                                  <a:latin typeface="Cambria Math" panose="02040503050406030204" pitchFamily="18" charset="0"/>
                                </a:rPr>
                                <m:t>=0</m:t>
                              </m:r>
                            </m:e>
                            <m:e>
                              <m:d>
                                <m:dPr>
                                  <m:begChr m:val="["/>
                                  <m:endChr m:val="]"/>
                                  <m:ctrlPr>
                                    <a:rPr lang="en-US" sz="2380" i="1">
                                      <a:solidFill>
                                        <a:schemeClr val="tx1"/>
                                      </a:solidFill>
                                      <a:latin typeface="Cambria Math" panose="02040503050406030204" pitchFamily="18" charset="0"/>
                                    </a:rPr>
                                  </m:ctrlPr>
                                </m:dPr>
                                <m:e>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𝐶</m:t>
                                      </m:r>
                                    </m:e>
                                    <m:sub>
                                      <m:r>
                                        <a:rPr lang="en-US" sz="2380" i="1">
                                          <a:solidFill>
                                            <a:schemeClr val="tx1"/>
                                          </a:solidFill>
                                          <a:latin typeface="Cambria Math" panose="02040503050406030204" pitchFamily="18" charset="0"/>
                                        </a:rPr>
                                        <m:t>𝐹</m:t>
                                      </m:r>
                                    </m:sub>
                                  </m:sSub>
                                  <m:d>
                                    <m:dPr>
                                      <m:ctrlPr>
                                        <a:rPr lang="en-US" sz="2380" i="1">
                                          <a:solidFill>
                                            <a:schemeClr val="tx1"/>
                                          </a:solidFill>
                                          <a:latin typeface="Cambria Math" panose="02040503050406030204" pitchFamily="18" charset="0"/>
                                        </a:rPr>
                                      </m:ctrlPr>
                                    </m:dPr>
                                    <m:e>
                                      <m:r>
                                        <a:rPr lang="en-US" sz="2380" i="1">
                                          <a:solidFill>
                                            <a:schemeClr val="tx1"/>
                                          </a:solidFill>
                                          <a:latin typeface="Cambria Math" panose="02040503050406030204" pitchFamily="18" charset="0"/>
                                        </a:rPr>
                                        <m:t>𝑡</m:t>
                                      </m:r>
                                      <m:r>
                                        <a:rPr lang="en-US" sz="2380" i="1">
                                          <a:solidFill>
                                            <a:schemeClr val="tx1"/>
                                          </a:solidFill>
                                          <a:latin typeface="Cambria Math" panose="02040503050406030204" pitchFamily="18" charset="0"/>
                                        </a:rPr>
                                        <m:t>−1</m:t>
                                      </m:r>
                                    </m:e>
                                  </m:d>
                                  <m:r>
                                    <a:rPr lang="en-US" sz="2380" i="1">
                                      <a:solidFill>
                                        <a:schemeClr val="tx1"/>
                                      </a:solidFill>
                                      <a:latin typeface="Cambria Math" panose="02040503050406030204" pitchFamily="18" charset="0"/>
                                    </a:rPr>
                                    <m:t>+</m:t>
                                  </m:r>
                                  <m:d>
                                    <m:dPr>
                                      <m:begChr m:val="["/>
                                      <m:endChr m:val="]"/>
                                      <m:ctrlPr>
                                        <a:rPr lang="en-US" sz="2380" i="1">
                                          <a:solidFill>
                                            <a:schemeClr val="tx1"/>
                                          </a:solidFill>
                                          <a:latin typeface="Cambria Math" panose="02040503050406030204" pitchFamily="18" charset="0"/>
                                        </a:rPr>
                                      </m:ctrlPr>
                                    </m:dPr>
                                    <m:e>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𝐴𝐷𝐹𝑁</m:t>
                                          </m:r>
                                        </m:e>
                                        <m:sub>
                                          <m:r>
                                            <a:rPr lang="en-US" sz="2380" i="1">
                                              <a:solidFill>
                                                <a:schemeClr val="tx1"/>
                                              </a:solidFill>
                                              <a:latin typeface="Cambria Math" panose="02040503050406030204" pitchFamily="18" charset="0"/>
                                            </a:rPr>
                                            <m:t>𝐹</m:t>
                                          </m:r>
                                        </m:sub>
                                      </m:sSub>
                                      <m:r>
                                        <a:rPr lang="en-US" sz="2380" i="1">
                                          <a:solidFill>
                                            <a:schemeClr val="tx1"/>
                                          </a:solidFill>
                                          <a:latin typeface="Cambria Math" panose="02040503050406030204" pitchFamily="18" charset="0"/>
                                        </a:rPr>
                                        <m:t>𝑃𝑅</m:t>
                                      </m:r>
                                      <m:d>
                                        <m:dPr>
                                          <m:ctrlPr>
                                            <a:rPr lang="en-US" sz="2380" i="1">
                                              <a:solidFill>
                                                <a:schemeClr val="tx1"/>
                                              </a:solidFill>
                                              <a:latin typeface="Cambria Math" panose="02040503050406030204" pitchFamily="18" charset="0"/>
                                            </a:rPr>
                                          </m:ctrlPr>
                                        </m:dPr>
                                        <m:e>
                                          <m:f>
                                            <m:fPr>
                                              <m:ctrlPr>
                                                <a:rPr lang="en-US" sz="2380" i="1">
                                                  <a:solidFill>
                                                    <a:schemeClr val="tx1"/>
                                                  </a:solidFill>
                                                  <a:latin typeface="Cambria Math" panose="02040503050406030204" pitchFamily="18" charset="0"/>
                                                </a:rPr>
                                              </m:ctrlPr>
                                            </m:fPr>
                                            <m:num>
                                              <m:r>
                                                <a:rPr lang="en-US" sz="2380" i="1">
                                                  <a:solidFill>
                                                    <a:schemeClr val="tx1"/>
                                                  </a:solidFill>
                                                  <a:latin typeface="Cambria Math" panose="02040503050406030204" pitchFamily="18" charset="0"/>
                                                </a:rPr>
                                                <m:t>1000</m:t>
                                              </m:r>
                                            </m:num>
                                            <m:den>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𝑉</m:t>
                                                  </m:r>
                                                </m:e>
                                                <m:sub>
                                                  <m:r>
                                                    <a:rPr lang="en-US" sz="2380" i="1">
                                                      <a:solidFill>
                                                        <a:schemeClr val="tx1"/>
                                                      </a:solidFill>
                                                      <a:latin typeface="Cambria Math" panose="02040503050406030204" pitchFamily="18" charset="0"/>
                                                    </a:rPr>
                                                    <m:t>𝐹</m:t>
                                                  </m:r>
                                                </m:sub>
                                              </m:sSub>
                                            </m:den>
                                          </m:f>
                                        </m:e>
                                      </m:d>
                                      <m:r>
                                        <a:rPr lang="en-US" sz="2380" i="1">
                                          <a:solidFill>
                                            <a:schemeClr val="tx1"/>
                                          </a:solidFill>
                                          <a:latin typeface="Cambria Math" panose="02040503050406030204" pitchFamily="18" charset="0"/>
                                        </a:rPr>
                                        <m:t>∗</m:t>
                                      </m:r>
                                      <m:r>
                                        <a:rPr lang="en-US" sz="2380" i="1">
                                          <a:solidFill>
                                            <a:schemeClr val="tx1"/>
                                          </a:solidFill>
                                          <a:latin typeface="Cambria Math" panose="02040503050406030204" pitchFamily="18" charset="0"/>
                                        </a:rPr>
                                        <m:t>𝑊</m:t>
                                      </m:r>
                                      <m:d>
                                        <m:dPr>
                                          <m:ctrlPr>
                                            <a:rPr lang="en-US" sz="2380" i="1">
                                              <a:solidFill>
                                                <a:schemeClr val="tx1"/>
                                              </a:solidFill>
                                              <a:latin typeface="Cambria Math" panose="02040503050406030204" pitchFamily="18" charset="0"/>
                                            </a:rPr>
                                          </m:ctrlPr>
                                        </m:dPr>
                                        <m:e>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𝑆</m:t>
                                              </m:r>
                                            </m:e>
                                            <m:sub>
                                              <m:r>
                                                <a:rPr lang="en-US" sz="2380" i="1">
                                                  <a:solidFill>
                                                    <a:schemeClr val="tx1"/>
                                                  </a:solidFill>
                                                  <a:latin typeface="Cambria Math" panose="02040503050406030204" pitchFamily="18" charset="0"/>
                                                </a:rPr>
                                                <m:t>𝐹</m:t>
                                              </m:r>
                                            </m:sub>
                                          </m:sSub>
                                          <m:r>
                                            <a:rPr lang="en-US" sz="2380" i="1">
                                              <a:solidFill>
                                                <a:schemeClr val="tx1"/>
                                              </a:solidFill>
                                              <a:latin typeface="Cambria Math" panose="02040503050406030204" pitchFamily="18" charset="0"/>
                                            </a:rPr>
                                            <m:t>+</m:t>
                                          </m:r>
                                          <m:r>
                                            <a:rPr lang="en-US" sz="2380" i="1">
                                              <a:solidFill>
                                                <a:schemeClr val="tx1"/>
                                              </a:solidFill>
                                              <a:latin typeface="Cambria Math" panose="02040503050406030204" pitchFamily="18" charset="0"/>
                                            </a:rPr>
                                            <m:t>𝑡</m:t>
                                          </m:r>
                                          <m:r>
                                            <a:rPr lang="en-US" sz="2380" i="1">
                                              <a:solidFill>
                                                <a:schemeClr val="tx1"/>
                                              </a:solidFill>
                                              <a:latin typeface="Cambria Math" panose="02040503050406030204" pitchFamily="18" charset="0"/>
                                            </a:rPr>
                                            <m:t>−1,</m:t>
                                          </m:r>
                                          <m:r>
                                            <a:rPr lang="en-US" sz="2380" i="1">
                                              <a:solidFill>
                                                <a:schemeClr val="tx1"/>
                                              </a:solidFill>
                                              <a:latin typeface="Cambria Math" panose="02040503050406030204" pitchFamily="18" charset="0"/>
                                            </a:rPr>
                                            <m:t>𝑃</m:t>
                                          </m:r>
                                        </m:e>
                                      </m:d>
                                    </m:e>
                                  </m:d>
                                </m:e>
                              </m:d>
                              <m:r>
                                <a:rPr lang="en-US" sz="2380" i="1">
                                  <a:solidFill>
                                    <a:schemeClr val="tx1"/>
                                  </a:solidFill>
                                  <a:latin typeface="Cambria Math" panose="02040503050406030204" pitchFamily="18" charset="0"/>
                                </a:rPr>
                                <m:t>,</m:t>
                              </m:r>
                              <m:r>
                                <a:rPr lang="en-US" sz="2380" b="0" i="1" smtClean="0">
                                  <a:solidFill>
                                    <a:schemeClr val="tx1"/>
                                  </a:solidFill>
                                  <a:latin typeface="Cambria Math" panose="02040503050406030204" pitchFamily="18" charset="0"/>
                                </a:rPr>
                                <m:t>                                      </m:t>
                              </m:r>
                              <m:r>
                                <a:rPr lang="en-US" sz="2380" i="1">
                                  <a:solidFill>
                                    <a:schemeClr val="tx1"/>
                                  </a:solidFill>
                                  <a:latin typeface="Cambria Math" panose="02040503050406030204" pitchFamily="18" charset="0"/>
                                </a:rPr>
                                <m:t>1≤</m:t>
                              </m:r>
                              <m:r>
                                <a:rPr lang="en-US" sz="2380" i="1">
                                  <a:solidFill>
                                    <a:schemeClr val="tx1"/>
                                  </a:solidFill>
                                  <a:latin typeface="Cambria Math" panose="02040503050406030204" pitchFamily="18" charset="0"/>
                                </a:rPr>
                                <m:t>𝑡</m:t>
                              </m:r>
                              <m:r>
                                <a:rPr lang="en-US" sz="2380" i="1">
                                  <a:solidFill>
                                    <a:schemeClr val="tx1"/>
                                  </a:solidFill>
                                  <a:latin typeface="Cambria Math" panose="02040503050406030204" pitchFamily="18" charset="0"/>
                                </a:rPr>
                                <m:t>≤</m:t>
                              </m:r>
                              <m:r>
                                <a:rPr lang="en-US" sz="2380" i="1">
                                  <a:solidFill>
                                    <a:schemeClr val="tx1"/>
                                  </a:solidFill>
                                  <a:latin typeface="Cambria Math" panose="02040503050406030204" pitchFamily="18" charset="0"/>
                                </a:rPr>
                                <m:t>𝐿</m:t>
                              </m:r>
                              <m:r>
                                <a:rPr lang="en-US" sz="2380" b="0" i="1" smtClean="0">
                                  <a:solidFill>
                                    <a:schemeClr val="tx1"/>
                                  </a:solidFill>
                                  <a:latin typeface="Cambria Math" panose="02040503050406030204" pitchFamily="18" charset="0"/>
                                </a:rPr>
                                <m:t>            </m:t>
                              </m:r>
                            </m:e>
                            <m:e>
                              <m:d>
                                <m:dPr>
                                  <m:begChr m:val="["/>
                                  <m:endChr m:val="]"/>
                                  <m:ctrlPr>
                                    <a:rPr lang="en-US" sz="2380" i="1">
                                      <a:solidFill>
                                        <a:schemeClr val="tx1"/>
                                      </a:solidFill>
                                      <a:latin typeface="Cambria Math" panose="02040503050406030204" pitchFamily="18" charset="0"/>
                                    </a:rPr>
                                  </m:ctrlPr>
                                </m:dPr>
                                <m:e>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𝐶</m:t>
                                      </m:r>
                                    </m:e>
                                    <m:sub>
                                      <m:r>
                                        <a:rPr lang="en-US" sz="2380" i="1">
                                          <a:solidFill>
                                            <a:schemeClr val="tx1"/>
                                          </a:solidFill>
                                          <a:latin typeface="Cambria Math" panose="02040503050406030204" pitchFamily="18" charset="0"/>
                                        </a:rPr>
                                        <m:t>𝐹</m:t>
                                      </m:r>
                                    </m:sub>
                                  </m:sSub>
                                  <m:d>
                                    <m:dPr>
                                      <m:ctrlPr>
                                        <a:rPr lang="en-US" sz="2380" i="1">
                                          <a:solidFill>
                                            <a:schemeClr val="tx1"/>
                                          </a:solidFill>
                                          <a:latin typeface="Cambria Math" panose="02040503050406030204" pitchFamily="18" charset="0"/>
                                        </a:rPr>
                                      </m:ctrlPr>
                                    </m:dPr>
                                    <m:e>
                                      <m:r>
                                        <a:rPr lang="en-US" sz="2380" i="1">
                                          <a:solidFill>
                                            <a:schemeClr val="tx1"/>
                                          </a:solidFill>
                                          <a:latin typeface="Cambria Math" panose="02040503050406030204" pitchFamily="18" charset="0"/>
                                        </a:rPr>
                                        <m:t>𝑡</m:t>
                                      </m:r>
                                      <m:r>
                                        <a:rPr lang="en-US" sz="2380" i="1">
                                          <a:solidFill>
                                            <a:schemeClr val="tx1"/>
                                          </a:solidFill>
                                          <a:latin typeface="Cambria Math" panose="02040503050406030204" pitchFamily="18" charset="0"/>
                                        </a:rPr>
                                        <m:t>−1</m:t>
                                      </m:r>
                                    </m:e>
                                  </m:d>
                                  <m:r>
                                    <a:rPr lang="en-US" sz="2380" i="1">
                                      <a:solidFill>
                                        <a:schemeClr val="tx1"/>
                                      </a:solidFill>
                                      <a:latin typeface="Cambria Math" panose="02040503050406030204" pitchFamily="18" charset="0"/>
                                    </a:rPr>
                                    <m:t>+</m:t>
                                  </m:r>
                                  <m:d>
                                    <m:dPr>
                                      <m:begChr m:val="["/>
                                      <m:endChr m:val="]"/>
                                      <m:ctrlPr>
                                        <a:rPr lang="en-US" sz="2380" i="1">
                                          <a:solidFill>
                                            <a:schemeClr val="tx1"/>
                                          </a:solidFill>
                                          <a:latin typeface="Cambria Math" panose="02040503050406030204" pitchFamily="18" charset="0"/>
                                        </a:rPr>
                                      </m:ctrlPr>
                                    </m:dPr>
                                    <m:e>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𝐴𝐷𝐹𝑁</m:t>
                                          </m:r>
                                        </m:e>
                                        <m:sub>
                                          <m:r>
                                            <a:rPr lang="en-US" sz="2380" i="1">
                                              <a:solidFill>
                                                <a:schemeClr val="tx1"/>
                                              </a:solidFill>
                                              <a:latin typeface="Cambria Math" panose="02040503050406030204" pitchFamily="18" charset="0"/>
                                            </a:rPr>
                                            <m:t>𝐹</m:t>
                                          </m:r>
                                        </m:sub>
                                      </m:sSub>
                                      <m:r>
                                        <a:rPr lang="en-US" sz="2380" i="1">
                                          <a:solidFill>
                                            <a:schemeClr val="tx1"/>
                                          </a:solidFill>
                                          <a:latin typeface="Cambria Math" panose="02040503050406030204" pitchFamily="18" charset="0"/>
                                        </a:rPr>
                                        <m:t>𝑃𝑅</m:t>
                                      </m:r>
                                      <m:d>
                                        <m:dPr>
                                          <m:ctrlPr>
                                            <a:rPr lang="en-US" sz="2380" i="1">
                                              <a:solidFill>
                                                <a:schemeClr val="tx1"/>
                                              </a:solidFill>
                                              <a:latin typeface="Cambria Math" panose="02040503050406030204" pitchFamily="18" charset="0"/>
                                            </a:rPr>
                                          </m:ctrlPr>
                                        </m:dPr>
                                        <m:e>
                                          <m:f>
                                            <m:fPr>
                                              <m:ctrlPr>
                                                <a:rPr lang="en-US" sz="2380" i="1">
                                                  <a:solidFill>
                                                    <a:schemeClr val="tx1"/>
                                                  </a:solidFill>
                                                  <a:latin typeface="Cambria Math" panose="02040503050406030204" pitchFamily="18" charset="0"/>
                                                </a:rPr>
                                              </m:ctrlPr>
                                            </m:fPr>
                                            <m:num>
                                              <m:r>
                                                <a:rPr lang="en-US" sz="2380" i="1">
                                                  <a:solidFill>
                                                    <a:schemeClr val="tx1"/>
                                                  </a:solidFill>
                                                  <a:latin typeface="Cambria Math" panose="02040503050406030204" pitchFamily="18" charset="0"/>
                                                </a:rPr>
                                                <m:t>1000</m:t>
                                              </m:r>
                                            </m:num>
                                            <m:den>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𝑉</m:t>
                                                  </m:r>
                                                </m:e>
                                                <m:sub>
                                                  <m:r>
                                                    <a:rPr lang="en-US" sz="2380" i="1">
                                                      <a:solidFill>
                                                        <a:schemeClr val="tx1"/>
                                                      </a:solidFill>
                                                      <a:latin typeface="Cambria Math" panose="02040503050406030204" pitchFamily="18" charset="0"/>
                                                    </a:rPr>
                                                    <m:t>𝐹</m:t>
                                                  </m:r>
                                                </m:sub>
                                              </m:sSub>
                                            </m:den>
                                          </m:f>
                                        </m:e>
                                      </m:d>
                                      <m:r>
                                        <a:rPr lang="en-US" sz="2380" i="1">
                                          <a:solidFill>
                                            <a:schemeClr val="tx1"/>
                                          </a:solidFill>
                                          <a:latin typeface="Cambria Math" panose="02040503050406030204" pitchFamily="18" charset="0"/>
                                        </a:rPr>
                                        <m:t>∗</m:t>
                                      </m:r>
                                      <m:r>
                                        <a:rPr lang="en-US" sz="2380" i="1">
                                          <a:solidFill>
                                            <a:schemeClr val="tx1"/>
                                          </a:solidFill>
                                          <a:latin typeface="Cambria Math" panose="02040503050406030204" pitchFamily="18" charset="0"/>
                                        </a:rPr>
                                        <m:t>𝑊</m:t>
                                      </m:r>
                                      <m:d>
                                        <m:dPr>
                                          <m:ctrlPr>
                                            <a:rPr lang="en-US" sz="2380" i="1">
                                              <a:solidFill>
                                                <a:schemeClr val="tx1"/>
                                              </a:solidFill>
                                              <a:latin typeface="Cambria Math" panose="02040503050406030204" pitchFamily="18" charset="0"/>
                                            </a:rPr>
                                          </m:ctrlPr>
                                        </m:dPr>
                                        <m:e>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𝑆</m:t>
                                              </m:r>
                                            </m:e>
                                            <m:sub>
                                              <m:r>
                                                <a:rPr lang="en-US" sz="2380" i="1">
                                                  <a:solidFill>
                                                    <a:schemeClr val="tx1"/>
                                                  </a:solidFill>
                                                  <a:latin typeface="Cambria Math" panose="02040503050406030204" pitchFamily="18" charset="0"/>
                                                </a:rPr>
                                                <m:t>𝐹</m:t>
                                              </m:r>
                                            </m:sub>
                                          </m:sSub>
                                          <m:r>
                                            <a:rPr lang="en-US" sz="2380" i="1">
                                              <a:solidFill>
                                                <a:schemeClr val="tx1"/>
                                              </a:solidFill>
                                              <a:latin typeface="Cambria Math" panose="02040503050406030204" pitchFamily="18" charset="0"/>
                                            </a:rPr>
                                            <m:t>+</m:t>
                                          </m:r>
                                          <m:r>
                                            <a:rPr lang="en-US" sz="2380" i="1">
                                              <a:solidFill>
                                                <a:schemeClr val="tx1"/>
                                              </a:solidFill>
                                              <a:latin typeface="Cambria Math" panose="02040503050406030204" pitchFamily="18" charset="0"/>
                                            </a:rPr>
                                            <m:t>𝑡</m:t>
                                          </m:r>
                                          <m:r>
                                            <a:rPr lang="en-US" sz="2380" i="1">
                                              <a:solidFill>
                                                <a:schemeClr val="tx1"/>
                                              </a:solidFill>
                                              <a:latin typeface="Cambria Math" panose="02040503050406030204" pitchFamily="18" charset="0"/>
                                            </a:rPr>
                                            <m:t>−1,</m:t>
                                          </m:r>
                                          <m:r>
                                            <a:rPr lang="en-US" sz="2380" i="1">
                                              <a:solidFill>
                                                <a:schemeClr val="tx1"/>
                                              </a:solidFill>
                                              <a:latin typeface="Cambria Math" panose="02040503050406030204" pitchFamily="18" charset="0"/>
                                            </a:rPr>
                                            <m:t>𝑃</m:t>
                                          </m:r>
                                        </m:e>
                                      </m:d>
                                    </m:e>
                                  </m:d>
                                </m:e>
                              </m:d>
                              <m:d>
                                <m:dPr>
                                  <m:begChr m:val="["/>
                                  <m:endChr m:val="]"/>
                                  <m:ctrlPr>
                                    <a:rPr lang="en-US" sz="2380" i="1">
                                      <a:solidFill>
                                        <a:schemeClr val="tx1"/>
                                      </a:solidFill>
                                      <a:latin typeface="Cambria Math" panose="02040503050406030204" pitchFamily="18" charset="0"/>
                                    </a:rPr>
                                  </m:ctrlPr>
                                </m:dPr>
                                <m:e>
                                  <m:f>
                                    <m:fPr>
                                      <m:ctrlPr>
                                        <a:rPr lang="en-US" sz="2380" i="1">
                                          <a:solidFill>
                                            <a:schemeClr val="tx1"/>
                                          </a:solidFill>
                                          <a:latin typeface="Cambria Math" panose="02040503050406030204" pitchFamily="18" charset="0"/>
                                        </a:rPr>
                                      </m:ctrlPr>
                                    </m:fPr>
                                    <m:num>
                                      <m:r>
                                        <a:rPr lang="en-US" sz="2380" i="1">
                                          <a:solidFill>
                                            <a:schemeClr val="tx1"/>
                                          </a:solidFill>
                                          <a:latin typeface="Cambria Math" panose="02040503050406030204" pitchFamily="18" charset="0"/>
                                        </a:rPr>
                                        <m:t>(</m:t>
                                      </m:r>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𝑉</m:t>
                                          </m:r>
                                        </m:e>
                                        <m:sub>
                                          <m:r>
                                            <a:rPr lang="en-US" sz="2380" i="1">
                                              <a:solidFill>
                                                <a:schemeClr val="tx1"/>
                                              </a:solidFill>
                                              <a:latin typeface="Cambria Math" panose="02040503050406030204" pitchFamily="18" charset="0"/>
                                            </a:rPr>
                                            <m:t>𝐹</m:t>
                                          </m:r>
                                        </m:sub>
                                      </m:sSub>
                                      <m:r>
                                        <a:rPr lang="en-US" sz="2380" i="1">
                                          <a:solidFill>
                                            <a:schemeClr val="tx1"/>
                                          </a:solidFill>
                                          <a:latin typeface="Cambria Math" panose="02040503050406030204" pitchFamily="18" charset="0"/>
                                        </a:rPr>
                                        <m:t>−(</m:t>
                                      </m:r>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𝑉</m:t>
                                          </m:r>
                                        </m:e>
                                        <m:sub>
                                          <m:r>
                                            <a:rPr lang="en-US" sz="2380" i="1">
                                              <a:solidFill>
                                                <a:schemeClr val="tx1"/>
                                              </a:solidFill>
                                              <a:latin typeface="Cambria Math" panose="02040503050406030204" pitchFamily="18" charset="0"/>
                                            </a:rPr>
                                            <m:t>𝑃</m:t>
                                          </m:r>
                                        </m:sub>
                                      </m:sSub>
                                      <m:r>
                                        <a:rPr lang="en-US" sz="2380" i="1">
                                          <a:solidFill>
                                            <a:schemeClr val="tx1"/>
                                          </a:solidFill>
                                          <a:latin typeface="Cambria Math" panose="02040503050406030204" pitchFamily="18" charset="0"/>
                                        </a:rPr>
                                        <m:t>+</m:t>
                                      </m:r>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𝑉</m:t>
                                          </m:r>
                                        </m:e>
                                        <m:sub>
                                          <m:r>
                                            <a:rPr lang="en-US" sz="2380" i="1">
                                              <a:solidFill>
                                                <a:schemeClr val="tx1"/>
                                              </a:solidFill>
                                              <a:latin typeface="Cambria Math" panose="02040503050406030204" pitchFamily="18" charset="0"/>
                                            </a:rPr>
                                            <m:t>𝐴</m:t>
                                          </m:r>
                                          <m:r>
                                            <a:rPr lang="en-US" sz="2380" i="1">
                                              <a:solidFill>
                                                <a:schemeClr val="tx1"/>
                                              </a:solidFill>
                                              <a:latin typeface="Cambria Math" panose="02040503050406030204" pitchFamily="18" charset="0"/>
                                            </a:rPr>
                                            <m:t> </m:t>
                                          </m:r>
                                        </m:sub>
                                      </m:sSub>
                                      <m:r>
                                        <a:rPr lang="en-US" sz="2380" i="1">
                                          <a:solidFill>
                                            <a:schemeClr val="tx1"/>
                                          </a:solidFill>
                                          <a:latin typeface="Cambria Math" panose="02040503050406030204" pitchFamily="18" charset="0"/>
                                        </a:rPr>
                                        <m:t>)</m:t>
                                      </m:r>
                                    </m:num>
                                    <m:den>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𝑉</m:t>
                                          </m:r>
                                        </m:e>
                                        <m:sub>
                                          <m:r>
                                            <a:rPr lang="en-US" sz="2380" i="1">
                                              <a:solidFill>
                                                <a:schemeClr val="tx1"/>
                                              </a:solidFill>
                                              <a:latin typeface="Cambria Math" panose="02040503050406030204" pitchFamily="18" charset="0"/>
                                            </a:rPr>
                                            <m:t>𝐹</m:t>
                                          </m:r>
                                        </m:sub>
                                      </m:sSub>
                                    </m:den>
                                  </m:f>
                                </m:e>
                              </m:d>
                              <m:r>
                                <a:rPr lang="en-US" sz="2380" i="1" smtClean="0">
                                  <a:solidFill>
                                    <a:schemeClr val="tx1"/>
                                  </a:solidFill>
                                  <a:latin typeface="Cambria Math" panose="02040503050406030204" pitchFamily="18" charset="0"/>
                                </a:rPr>
                                <m:t>, </m:t>
                              </m:r>
                              <m:r>
                                <a:rPr lang="en-US" sz="2380" b="0" i="1" smtClean="0">
                                  <a:solidFill>
                                    <a:schemeClr val="tx1"/>
                                  </a:solidFill>
                                  <a:latin typeface="Cambria Math" panose="02040503050406030204" pitchFamily="18" charset="0"/>
                                </a:rPr>
                                <m:t> </m:t>
                              </m:r>
                              <m:r>
                                <a:rPr lang="en-US" sz="2380" i="1">
                                  <a:solidFill>
                                    <a:schemeClr val="tx1"/>
                                  </a:solidFill>
                                  <a:latin typeface="Cambria Math" panose="02040503050406030204" pitchFamily="18" charset="0"/>
                                </a:rPr>
                                <m:t>𝑡</m:t>
                              </m:r>
                              <m:r>
                                <a:rPr lang="en-US" sz="2380" i="1">
                                  <a:solidFill>
                                    <a:schemeClr val="tx1"/>
                                  </a:solidFill>
                                  <a:latin typeface="Cambria Math" panose="02040503050406030204" pitchFamily="18" charset="0"/>
                                </a:rPr>
                                <m:t>: </m:t>
                              </m:r>
                              <m:r>
                                <a:rPr lang="en-US" sz="2380" i="1">
                                  <a:solidFill>
                                    <a:schemeClr val="tx1"/>
                                  </a:solidFill>
                                  <a:latin typeface="Cambria Math" panose="02040503050406030204" pitchFamily="18" charset="0"/>
                                </a:rPr>
                                <m:t>𝑡</m:t>
                              </m:r>
                              <m:r>
                                <m:rPr>
                                  <m:sty m:val="p"/>
                                </m:rPr>
                                <a:rPr lang="en-US" sz="2380">
                                  <a:solidFill>
                                    <a:schemeClr val="tx1"/>
                                  </a:solidFill>
                                  <a:latin typeface="Cambria Math" panose="02040503050406030204" pitchFamily="18" charset="0"/>
                                </a:rPr>
                                <m:t>mod</m:t>
                              </m:r>
                              <m:d>
                                <m:dPr>
                                  <m:ctrlPr>
                                    <a:rPr lang="en-US" sz="2380" i="1">
                                      <a:solidFill>
                                        <a:schemeClr val="tx1"/>
                                      </a:solidFill>
                                      <a:latin typeface="Cambria Math" panose="02040503050406030204" pitchFamily="18" charset="0"/>
                                    </a:rPr>
                                  </m:ctrlPr>
                                </m:dPr>
                                <m:e>
                                  <m:r>
                                    <a:rPr lang="en-US" sz="2380" i="1">
                                      <a:solidFill>
                                        <a:schemeClr val="tx1"/>
                                      </a:solidFill>
                                      <a:latin typeface="Cambria Math" panose="02040503050406030204" pitchFamily="18" charset="0"/>
                                    </a:rPr>
                                    <m:t>𝐸</m:t>
                                  </m:r>
                                </m:e>
                              </m:d>
                              <m:r>
                                <a:rPr lang="en-US" sz="2380" i="1">
                                  <a:solidFill>
                                    <a:schemeClr val="tx1"/>
                                  </a:solidFill>
                                  <a:latin typeface="Cambria Math" panose="02040503050406030204" pitchFamily="18" charset="0"/>
                                </a:rPr>
                                <m:t>≡0</m:t>
                              </m:r>
                            </m:e>
                          </m:eqArr>
                        </m:e>
                      </m:d>
                    </m:oMath>
                  </m:oMathPara>
                </a14:m>
                <a:endParaRPr lang="en-US" sz="2380" dirty="0">
                  <a:solidFill>
                    <a:schemeClr val="tx1"/>
                  </a:solidFill>
                </a:endParaRPr>
              </a:p>
              <a:p>
                <a:endParaRPr lang="en-US" sz="2380" dirty="0">
                  <a:solidFill>
                    <a:schemeClr val="tx1"/>
                  </a:solidFill>
                </a:endParaRPr>
              </a:p>
            </p:txBody>
          </p:sp>
        </mc:Choice>
        <mc:Fallback xmlns="">
          <p:sp>
            <p:nvSpPr>
              <p:cNvPr id="12" name="TextBox 11">
                <a:extLst>
                  <a:ext uri="{FF2B5EF4-FFF2-40B4-BE49-F238E27FC236}">
                    <a16:creationId xmlns:a16="http://schemas.microsoft.com/office/drawing/2014/main" id="{25F1D0CA-8879-603D-1AFE-739774A10763}"/>
                  </a:ext>
                </a:extLst>
              </p:cNvPr>
              <p:cNvSpPr txBox="1">
                <a:spLocks noRot="1" noChangeAspect="1" noMove="1" noResize="1" noEditPoints="1" noAdjustHandles="1" noChangeArrowheads="1" noChangeShapeType="1" noTextEdit="1"/>
              </p:cNvSpPr>
              <p:nvPr/>
            </p:nvSpPr>
            <p:spPr>
              <a:xfrm>
                <a:off x="14890375" y="8645479"/>
                <a:ext cx="14184914" cy="321049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23469CC-AA84-1C96-623D-09CA6661CFDF}"/>
                  </a:ext>
                </a:extLst>
              </p:cNvPr>
              <p:cNvSpPr txBox="1"/>
              <p:nvPr/>
            </p:nvSpPr>
            <p:spPr>
              <a:xfrm>
                <a:off x="14854795" y="11443031"/>
                <a:ext cx="13387885" cy="1459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380" i="1" smtClean="0">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𝐶</m:t>
                          </m:r>
                        </m:e>
                        <m:sub>
                          <m:r>
                            <a:rPr lang="en-US" sz="2380" i="1">
                              <a:solidFill>
                                <a:schemeClr val="tx1"/>
                              </a:solidFill>
                              <a:latin typeface="Cambria Math" panose="02040503050406030204" pitchFamily="18" charset="0"/>
                            </a:rPr>
                            <m:t>𝑃</m:t>
                          </m:r>
                        </m:sub>
                      </m:sSub>
                      <m:d>
                        <m:dPr>
                          <m:ctrlPr>
                            <a:rPr lang="en-US" sz="2380" i="1">
                              <a:solidFill>
                                <a:schemeClr val="tx1"/>
                              </a:solidFill>
                              <a:latin typeface="Cambria Math" panose="02040503050406030204" pitchFamily="18" charset="0"/>
                            </a:rPr>
                          </m:ctrlPr>
                        </m:dPr>
                        <m:e>
                          <m:r>
                            <a:rPr lang="en-US" sz="2380" i="1">
                              <a:solidFill>
                                <a:schemeClr val="tx1"/>
                              </a:solidFill>
                              <a:latin typeface="Cambria Math" panose="02040503050406030204" pitchFamily="18" charset="0"/>
                            </a:rPr>
                            <m:t>𝑡</m:t>
                          </m:r>
                        </m:e>
                      </m:d>
                      <m:r>
                        <a:rPr lang="en-US" sz="2380" i="0">
                          <a:solidFill>
                            <a:schemeClr val="tx1"/>
                          </a:solidFill>
                          <a:latin typeface="Cambria Math" panose="02040503050406030204" pitchFamily="18" charset="0"/>
                        </a:rPr>
                        <m:t>=</m:t>
                      </m:r>
                      <m:d>
                        <m:dPr>
                          <m:begChr m:val="{"/>
                          <m:endChr m:val=""/>
                          <m:ctrlPr>
                            <a:rPr lang="en-US" sz="2380" i="1">
                              <a:solidFill>
                                <a:schemeClr val="tx1"/>
                              </a:solidFill>
                              <a:latin typeface="Cambria Math" panose="02040503050406030204" pitchFamily="18" charset="0"/>
                            </a:rPr>
                          </m:ctrlPr>
                        </m:dPr>
                        <m:e>
                          <m:eqArr>
                            <m:eqArrPr>
                              <m:ctrlPr>
                                <a:rPr lang="en-US" sz="2380" i="1">
                                  <a:solidFill>
                                    <a:schemeClr val="tx1"/>
                                  </a:solidFill>
                                  <a:latin typeface="Cambria Math" panose="02040503050406030204" pitchFamily="18" charset="0"/>
                                </a:rPr>
                              </m:ctrlPr>
                            </m:eqArrPr>
                            <m:e>
                              <m:r>
                                <a:rPr lang="en-US" sz="2380" i="0">
                                  <a:solidFill>
                                    <a:schemeClr val="tx1"/>
                                  </a:solidFill>
                                  <a:latin typeface="Cambria Math" panose="02040503050406030204" pitchFamily="18" charset="0"/>
                                </a:rPr>
                                <m:t>0,                                                                               &amp;</m:t>
                              </m:r>
                              <m:r>
                                <a:rPr lang="en-US" sz="2380" i="1">
                                  <a:solidFill>
                                    <a:schemeClr val="tx1"/>
                                  </a:solidFill>
                                  <a:latin typeface="Cambria Math" panose="02040503050406030204" pitchFamily="18" charset="0"/>
                                </a:rPr>
                                <m:t>𝑡</m:t>
                              </m:r>
                              <m:r>
                                <a:rPr lang="en-US" sz="2380" i="0">
                                  <a:solidFill>
                                    <a:schemeClr val="tx1"/>
                                  </a:solidFill>
                                  <a:latin typeface="Cambria Math" panose="02040503050406030204" pitchFamily="18" charset="0"/>
                                </a:rPr>
                                <m:t>≤</m:t>
                              </m:r>
                              <m:r>
                                <a:rPr lang="en-US" sz="2380" i="1">
                                  <a:solidFill>
                                    <a:schemeClr val="tx1"/>
                                  </a:solidFill>
                                  <a:latin typeface="Cambria Math" panose="02040503050406030204" pitchFamily="18" charset="0"/>
                                </a:rPr>
                                <m:t>𝐾</m:t>
                              </m:r>
                              <m:r>
                                <a:rPr lang="en-US" sz="2380" i="0">
                                  <a:solidFill>
                                    <a:schemeClr val="tx1"/>
                                  </a:solidFill>
                                  <a:latin typeface="Cambria Math" panose="02040503050406030204" pitchFamily="18" charset="0"/>
                                </a:rPr>
                                <m:t>                                                                 </m:t>
                              </m:r>
                            </m:e>
                            <m:e>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𝐶</m:t>
                                  </m:r>
                                </m:e>
                                <m:sub>
                                  <m:r>
                                    <a:rPr lang="en-US" sz="2380" i="1">
                                      <a:solidFill>
                                        <a:schemeClr val="tx1"/>
                                      </a:solidFill>
                                      <a:latin typeface="Cambria Math" panose="02040503050406030204" pitchFamily="18" charset="0"/>
                                    </a:rPr>
                                    <m:t>𝐹</m:t>
                                  </m:r>
                                </m:sub>
                              </m:sSub>
                              <m:d>
                                <m:dPr>
                                  <m:ctrlPr>
                                    <a:rPr lang="en-US" sz="2380" i="1">
                                      <a:solidFill>
                                        <a:schemeClr val="tx1"/>
                                      </a:solidFill>
                                      <a:latin typeface="Cambria Math" panose="02040503050406030204" pitchFamily="18" charset="0"/>
                                    </a:rPr>
                                  </m:ctrlPr>
                                </m:dPr>
                                <m:e>
                                  <m:r>
                                    <a:rPr lang="en-US" sz="2380" i="1">
                                      <a:solidFill>
                                        <a:schemeClr val="tx1"/>
                                      </a:solidFill>
                                      <a:latin typeface="Cambria Math" panose="02040503050406030204" pitchFamily="18" charset="0"/>
                                    </a:rPr>
                                    <m:t>𝑡</m:t>
                                  </m:r>
                                </m:e>
                              </m:d>
                              <m:r>
                                <a:rPr lang="en-US" sz="2380" i="0">
                                  <a:solidFill>
                                    <a:schemeClr val="tx1"/>
                                  </a:solidFill>
                                  <a:latin typeface="Cambria Math" panose="02040503050406030204" pitchFamily="18" charset="0"/>
                                </a:rPr>
                                <m:t>,                                                                       &amp;</m:t>
                              </m:r>
                              <m:r>
                                <a:rPr lang="en-US" sz="2380" i="1">
                                  <a:solidFill>
                                    <a:schemeClr val="tx1"/>
                                  </a:solidFill>
                                  <a:latin typeface="Cambria Math" panose="02040503050406030204" pitchFamily="18" charset="0"/>
                                </a:rPr>
                                <m:t>𝑡</m:t>
                              </m:r>
                              <m:r>
                                <a:rPr lang="en-US" sz="2380" i="0">
                                  <a:solidFill>
                                    <a:schemeClr val="tx1"/>
                                  </a:solidFill>
                                  <a:latin typeface="Cambria Math" panose="02040503050406030204" pitchFamily="18" charset="0"/>
                                </a:rPr>
                                <m:t>≥</m:t>
                              </m:r>
                              <m:r>
                                <a:rPr lang="en-US" sz="2380" i="1">
                                  <a:solidFill>
                                    <a:schemeClr val="tx1"/>
                                  </a:solidFill>
                                  <a:latin typeface="Cambria Math" panose="02040503050406030204" pitchFamily="18" charset="0"/>
                                </a:rPr>
                                <m:t>𝐾</m:t>
                              </m:r>
                              <m:r>
                                <a:rPr lang="en-US" sz="2380" i="0">
                                  <a:solidFill>
                                    <a:schemeClr val="tx1"/>
                                  </a:solidFill>
                                  <a:latin typeface="Cambria Math" panose="02040503050406030204" pitchFamily="18" charset="0"/>
                                </a:rPr>
                                <m:t> : </m:t>
                              </m:r>
                              <m:r>
                                <a:rPr lang="en-US" sz="2380" i="1">
                                  <a:solidFill>
                                    <a:schemeClr val="tx1"/>
                                  </a:solidFill>
                                  <a:latin typeface="Cambria Math" panose="02040503050406030204" pitchFamily="18" charset="0"/>
                                </a:rPr>
                                <m:t>𝑡𝑚𝑜𝑑</m:t>
                              </m:r>
                              <m:d>
                                <m:dPr>
                                  <m:ctrlPr>
                                    <a:rPr lang="en-US" sz="2380" i="1">
                                      <a:solidFill>
                                        <a:schemeClr val="tx1"/>
                                      </a:solidFill>
                                      <a:latin typeface="Cambria Math" panose="02040503050406030204" pitchFamily="18" charset="0"/>
                                    </a:rPr>
                                  </m:ctrlPr>
                                </m:dPr>
                                <m:e>
                                  <m:r>
                                    <a:rPr lang="en-US" sz="2380" b="0" i="1" smtClean="0">
                                      <a:solidFill>
                                        <a:schemeClr val="tx1"/>
                                      </a:solidFill>
                                      <a:latin typeface="Cambria Math" panose="02040503050406030204" pitchFamily="18" charset="0"/>
                                    </a:rPr>
                                    <m:t>𝐸</m:t>
                                  </m:r>
                                </m:e>
                              </m:d>
                              <m:r>
                                <a:rPr lang="en-US" sz="2380" i="0">
                                  <a:solidFill>
                                    <a:schemeClr val="tx1"/>
                                  </a:solidFill>
                                  <a:latin typeface="Cambria Math" panose="02040503050406030204" pitchFamily="18" charset="0"/>
                                </a:rPr>
                                <m:t>≡0</m:t>
                              </m:r>
                            </m:e>
                            <m:e>
                              <m:d>
                                <m:dPr>
                                  <m:begChr m:val=""/>
                                  <m:ctrlPr>
                                    <a:rPr lang="en-US" sz="2380" i="1">
                                      <a:solidFill>
                                        <a:schemeClr val="tx1"/>
                                      </a:solidFill>
                                      <a:latin typeface="Cambria Math" panose="02040503050406030204" pitchFamily="18" charset="0"/>
                                    </a:rPr>
                                  </m:ctrlPr>
                                </m:dPr>
                                <m:e>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𝐶</m:t>
                                      </m:r>
                                    </m:e>
                                    <m:sub>
                                      <m:r>
                                        <a:rPr lang="en-US" sz="2380" i="1">
                                          <a:solidFill>
                                            <a:schemeClr val="tx1"/>
                                          </a:solidFill>
                                          <a:latin typeface="Cambria Math" panose="02040503050406030204" pitchFamily="18" charset="0"/>
                                        </a:rPr>
                                        <m:t>𝑃</m:t>
                                      </m:r>
                                    </m:sub>
                                  </m:sSub>
                                  <m:d>
                                    <m:dPr>
                                      <m:ctrlPr>
                                        <a:rPr lang="en-US" sz="2380" i="1">
                                          <a:solidFill>
                                            <a:schemeClr val="tx1"/>
                                          </a:solidFill>
                                          <a:latin typeface="Cambria Math" panose="02040503050406030204" pitchFamily="18" charset="0"/>
                                        </a:rPr>
                                      </m:ctrlPr>
                                    </m:dPr>
                                    <m:e>
                                      <m:r>
                                        <a:rPr lang="en-US" sz="2380" i="1">
                                          <a:solidFill>
                                            <a:schemeClr val="tx1"/>
                                          </a:solidFill>
                                          <a:latin typeface="Cambria Math" panose="02040503050406030204" pitchFamily="18" charset="0"/>
                                        </a:rPr>
                                        <m:t>𝑡</m:t>
                                      </m:r>
                                      <m:r>
                                        <a:rPr lang="en-US" sz="2380" i="0">
                                          <a:solidFill>
                                            <a:schemeClr val="tx1"/>
                                          </a:solidFill>
                                          <a:latin typeface="Cambria Math" panose="02040503050406030204" pitchFamily="18" charset="0"/>
                                        </a:rPr>
                                        <m:t>−1</m:t>
                                      </m:r>
                                    </m:e>
                                  </m:d>
                                  <m:r>
                                    <a:rPr lang="en-US" sz="2380" i="0">
                                      <a:solidFill>
                                        <a:schemeClr val="tx1"/>
                                      </a:solidFill>
                                      <a:latin typeface="Cambria Math" panose="02040503050406030204" pitchFamily="18" charset="0"/>
                                    </a:rPr>
                                    <m:t>−</m:t>
                                  </m:r>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𝑁</m:t>
                                      </m:r>
                                    </m:e>
                                    <m:sub>
                                      <m:r>
                                        <a:rPr lang="en-US" sz="2380" i="1">
                                          <a:solidFill>
                                            <a:schemeClr val="tx1"/>
                                          </a:solidFill>
                                          <a:latin typeface="Cambria Math" panose="02040503050406030204" pitchFamily="18" charset="0"/>
                                        </a:rPr>
                                        <m:t>𝑃</m:t>
                                      </m:r>
                                    </m:sub>
                                  </m:sSub>
                                  <m:r>
                                    <a:rPr lang="en-US" sz="2380" i="0">
                                      <a:solidFill>
                                        <a:schemeClr val="tx1"/>
                                      </a:solidFill>
                                      <a:latin typeface="Cambria Math" panose="02040503050406030204" pitchFamily="18" charset="0"/>
                                    </a:rPr>
                                    <m:t>∗</m:t>
                                  </m:r>
                                  <m:r>
                                    <a:rPr lang="en-US" sz="2380" i="1">
                                      <a:solidFill>
                                        <a:schemeClr val="tx1"/>
                                      </a:solidFill>
                                      <a:latin typeface="Cambria Math" panose="02040503050406030204" pitchFamily="18" charset="0"/>
                                    </a:rPr>
                                    <m:t>𝑈</m:t>
                                  </m:r>
                                  <m:d>
                                    <m:dPr>
                                      <m:ctrlPr>
                                        <a:rPr lang="en-US" sz="2380" i="1">
                                          <a:solidFill>
                                            <a:schemeClr val="tx1"/>
                                          </a:solidFill>
                                          <a:latin typeface="Cambria Math" panose="02040503050406030204" pitchFamily="18" charset="0"/>
                                        </a:rPr>
                                      </m:ctrlPr>
                                    </m:dPr>
                                    <m:e>
                                      <m:d>
                                        <m:dPr>
                                          <m:endChr m:val=""/>
                                          <m:ctrlPr>
                                            <a:rPr lang="en-US" sz="2380" i="1">
                                              <a:solidFill>
                                                <a:schemeClr val="tx1"/>
                                              </a:solidFill>
                                              <a:latin typeface="Cambria Math" panose="02040503050406030204" pitchFamily="18" charset="0"/>
                                            </a:rPr>
                                          </m:ctrlPr>
                                        </m:dPr>
                                        <m:e>
                                          <m:r>
                                            <a:rPr lang="en-US" sz="2380" i="1">
                                              <a:solidFill>
                                                <a:schemeClr val="tx1"/>
                                              </a:solidFill>
                                              <a:latin typeface="Cambria Math" panose="02040503050406030204" pitchFamily="18" charset="0"/>
                                            </a:rPr>
                                            <m:t>𝑡</m:t>
                                          </m:r>
                                          <m:r>
                                            <a:rPr lang="en-US" sz="2380" i="0">
                                              <a:solidFill>
                                                <a:schemeClr val="tx1"/>
                                              </a:solidFill>
                                              <a:latin typeface="Cambria Math" panose="02040503050406030204" pitchFamily="18" charset="0"/>
                                            </a:rPr>
                                            <m:t>−</m:t>
                                          </m:r>
                                          <m:r>
                                            <a:rPr lang="en-US" sz="2380" i="1">
                                              <a:solidFill>
                                                <a:schemeClr val="tx1"/>
                                              </a:solidFill>
                                              <a:latin typeface="Cambria Math" panose="02040503050406030204" pitchFamily="18" charset="0"/>
                                            </a:rPr>
                                            <m:t>𝐾</m:t>
                                          </m:r>
                                          <m:r>
                                            <a:rPr lang="en-US" sz="2380" i="0">
                                              <a:solidFill>
                                                <a:schemeClr val="tx1"/>
                                              </a:solidFill>
                                              <a:latin typeface="Cambria Math" panose="02040503050406030204" pitchFamily="18" charset="0"/>
                                            </a:rPr>
                                            <m:t>−1</m:t>
                                          </m:r>
                                        </m:e>
                                      </m:d>
                                    </m:e>
                                  </m:d>
                                  <m:r>
                                    <a:rPr lang="en-US" sz="2380" i="0">
                                      <a:solidFill>
                                        <a:schemeClr val="tx1"/>
                                      </a:solidFill>
                                      <a:latin typeface="Cambria Math" panose="02040503050406030204" pitchFamily="18" charset="0"/>
                                    </a:rPr>
                                    <m:t>+</m:t>
                                  </m:r>
                                  <m:sSub>
                                    <m:sSubPr>
                                      <m:ctrlPr>
                                        <a:rPr lang="en-US" sz="2380" i="1">
                                          <a:solidFill>
                                            <a:schemeClr val="tx1"/>
                                          </a:solidFill>
                                          <a:latin typeface="Cambria Math" panose="02040503050406030204" pitchFamily="18" charset="0"/>
                                        </a:rPr>
                                      </m:ctrlPr>
                                    </m:sSubPr>
                                    <m:e>
                                      <m:r>
                                        <a:rPr lang="en-US" sz="2380" i="1">
                                          <a:solidFill>
                                            <a:schemeClr val="tx1"/>
                                          </a:solidFill>
                                          <a:latin typeface="Cambria Math" panose="02040503050406030204" pitchFamily="18" charset="0"/>
                                        </a:rPr>
                                        <m:t>𝑆</m:t>
                                      </m:r>
                                    </m:e>
                                    <m:sub>
                                      <m:r>
                                        <a:rPr lang="en-US" sz="2380" i="1">
                                          <a:solidFill>
                                            <a:schemeClr val="tx1"/>
                                          </a:solidFill>
                                          <a:latin typeface="Cambria Math" panose="02040503050406030204" pitchFamily="18" charset="0"/>
                                        </a:rPr>
                                        <m:t>𝑃</m:t>
                                      </m:r>
                                    </m:sub>
                                  </m:sSub>
                                </m:e>
                              </m:d>
                              <m:r>
                                <a:rPr lang="en-US" sz="2380" i="0">
                                  <a:solidFill>
                                    <a:schemeClr val="tx1"/>
                                  </a:solidFill>
                                  <a:latin typeface="Cambria Math" panose="02040503050406030204" pitchFamily="18" charset="0"/>
                                </a:rPr>
                                <m:t>,         &amp;</m:t>
                              </m:r>
                              <m:r>
                                <a:rPr lang="en-US" sz="2380" i="1">
                                  <a:solidFill>
                                    <a:schemeClr val="tx1"/>
                                  </a:solidFill>
                                  <a:latin typeface="Cambria Math" panose="02040503050406030204" pitchFamily="18" charset="0"/>
                                </a:rPr>
                                <m:t>𝑡</m:t>
                              </m:r>
                              <m:r>
                                <a:rPr lang="en-US" sz="2380" i="0">
                                  <a:solidFill>
                                    <a:schemeClr val="tx1"/>
                                  </a:solidFill>
                                  <a:latin typeface="Cambria Math" panose="02040503050406030204" pitchFamily="18" charset="0"/>
                                </a:rPr>
                                <m:t>≥</m:t>
                              </m:r>
                              <m:r>
                                <a:rPr lang="en-US" sz="2380" i="1">
                                  <a:solidFill>
                                    <a:schemeClr val="tx1"/>
                                  </a:solidFill>
                                  <a:latin typeface="Cambria Math" panose="02040503050406030204" pitchFamily="18" charset="0"/>
                                </a:rPr>
                                <m:t>𝐾</m:t>
                              </m:r>
                              <m:r>
                                <a:rPr lang="en-US" sz="2380" i="0">
                                  <a:solidFill>
                                    <a:schemeClr val="tx1"/>
                                  </a:solidFill>
                                  <a:latin typeface="Cambria Math" panose="02040503050406030204" pitchFamily="18" charset="0"/>
                                </a:rPr>
                                <m:t> : </m:t>
                              </m:r>
                              <m:r>
                                <a:rPr lang="en-US" sz="2380" i="1">
                                  <a:solidFill>
                                    <a:schemeClr val="tx1"/>
                                  </a:solidFill>
                                  <a:latin typeface="Cambria Math" panose="02040503050406030204" pitchFamily="18" charset="0"/>
                                </a:rPr>
                                <m:t>𝑡𝑚𝑜𝑑</m:t>
                              </m:r>
                              <m:d>
                                <m:dPr>
                                  <m:ctrlPr>
                                    <a:rPr lang="en-US" sz="2380" i="1">
                                      <a:solidFill>
                                        <a:schemeClr val="tx1"/>
                                      </a:solidFill>
                                      <a:latin typeface="Cambria Math" panose="02040503050406030204" pitchFamily="18" charset="0"/>
                                    </a:rPr>
                                  </m:ctrlPr>
                                </m:dPr>
                                <m:e>
                                  <m:r>
                                    <a:rPr lang="en-US" sz="2380" b="0" i="1" smtClean="0">
                                      <a:solidFill>
                                        <a:schemeClr val="tx1"/>
                                      </a:solidFill>
                                      <a:latin typeface="Cambria Math" panose="02040503050406030204" pitchFamily="18" charset="0"/>
                                    </a:rPr>
                                    <m:t>𝐸</m:t>
                                  </m:r>
                                </m:e>
                              </m:d>
                              <m:r>
                                <a:rPr lang="en-US" sz="2380" i="0">
                                  <a:solidFill>
                                    <a:schemeClr val="tx1"/>
                                  </a:solidFill>
                                  <a:latin typeface="Cambria Math" panose="02040503050406030204" pitchFamily="18" charset="0"/>
                                </a:rPr>
                                <m:t>≢0</m:t>
                              </m:r>
                            </m:e>
                          </m:eqArr>
                        </m:e>
                      </m:d>
                    </m:oMath>
                  </m:oMathPara>
                </a14:m>
                <a:endParaRPr lang="en-US" sz="2380" dirty="0">
                  <a:solidFill>
                    <a:schemeClr val="tx1"/>
                  </a:solidFill>
                </a:endParaRPr>
              </a:p>
            </p:txBody>
          </p:sp>
        </mc:Choice>
        <mc:Fallback xmlns="">
          <p:sp>
            <p:nvSpPr>
              <p:cNvPr id="34" name="TextBox 33">
                <a:extLst>
                  <a:ext uri="{FF2B5EF4-FFF2-40B4-BE49-F238E27FC236}">
                    <a16:creationId xmlns:a16="http://schemas.microsoft.com/office/drawing/2014/main" id="{123469CC-AA84-1C96-623D-09CA6661CFDF}"/>
                  </a:ext>
                </a:extLst>
              </p:cNvPr>
              <p:cNvSpPr txBox="1">
                <a:spLocks noRot="1" noChangeAspect="1" noMove="1" noResize="1" noEditPoints="1" noAdjustHandles="1" noChangeArrowheads="1" noChangeShapeType="1" noTextEdit="1"/>
              </p:cNvSpPr>
              <p:nvPr/>
            </p:nvSpPr>
            <p:spPr>
              <a:xfrm>
                <a:off x="14854795" y="11443031"/>
                <a:ext cx="13387885" cy="1459887"/>
              </a:xfrm>
              <a:prstGeom prst="rect">
                <a:avLst/>
              </a:prstGeom>
              <a:blipFill>
                <a:blip r:embed="rId7"/>
                <a:stretch>
                  <a:fillRect/>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F58AEE82-FE3A-0701-9E73-0D9A62BCF44F}"/>
              </a:ext>
            </a:extLst>
          </p:cNvPr>
          <p:cNvSpPr txBox="1"/>
          <p:nvPr/>
        </p:nvSpPr>
        <p:spPr>
          <a:xfrm>
            <a:off x="15519504" y="13512419"/>
            <a:ext cx="13131750" cy="2062103"/>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This definition served as the basis for which we developed a computational model to predict nitrate concentration. The main concern of this model is understanding relative nitrate concentration on </a:t>
            </a:r>
            <a:r>
              <a:rPr lang="en-US" sz="3200" b="1" dirty="0">
                <a:latin typeface="Times New Roman" panose="02020603050405020304" pitchFamily="18" charset="0"/>
                <a:cs typeface="Times New Roman" panose="02020603050405020304" pitchFamily="18" charset="0"/>
              </a:rPr>
              <a:t>a given</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day</a:t>
            </a:r>
            <a:r>
              <a:rPr lang="en-US" sz="3200" dirty="0">
                <a:latin typeface="Times New Roman" panose="02020603050405020304" pitchFamily="18" charset="0"/>
                <a:cs typeface="Times New Roman" panose="02020603050405020304" pitchFamily="18" charset="0"/>
              </a:rPr>
              <a:t>, not necessarily continuously.</a:t>
            </a:r>
          </a:p>
        </p:txBody>
      </p:sp>
      <p:pic>
        <p:nvPicPr>
          <p:cNvPr id="56" name="Picture 55">
            <a:extLst>
              <a:ext uri="{FF2B5EF4-FFF2-40B4-BE49-F238E27FC236}">
                <a16:creationId xmlns:a16="http://schemas.microsoft.com/office/drawing/2014/main" id="{BCCBBC89-61FB-F48A-F5C1-4B76E16EAD16}"/>
              </a:ext>
            </a:extLst>
          </p:cNvPr>
          <p:cNvPicPr>
            <a:picLocks noChangeAspect="1"/>
          </p:cNvPicPr>
          <p:nvPr/>
        </p:nvPicPr>
        <p:blipFill>
          <a:blip r:embed="rId8"/>
          <a:stretch>
            <a:fillRect/>
          </a:stretch>
        </p:blipFill>
        <p:spPr>
          <a:xfrm>
            <a:off x="15663741" y="20338409"/>
            <a:ext cx="5162672" cy="3726634"/>
          </a:xfrm>
          <a:prstGeom prst="rect">
            <a:avLst/>
          </a:prstGeom>
        </p:spPr>
      </p:pic>
      <p:pic>
        <p:nvPicPr>
          <p:cNvPr id="58" name="Picture 57">
            <a:extLst>
              <a:ext uri="{FF2B5EF4-FFF2-40B4-BE49-F238E27FC236}">
                <a16:creationId xmlns:a16="http://schemas.microsoft.com/office/drawing/2014/main" id="{515B4E24-AAE3-3CA5-BD27-6A6EC7F84B92}"/>
              </a:ext>
            </a:extLst>
          </p:cNvPr>
          <p:cNvPicPr>
            <a:picLocks noChangeAspect="1"/>
          </p:cNvPicPr>
          <p:nvPr/>
        </p:nvPicPr>
        <p:blipFill>
          <a:blip r:embed="rId9"/>
          <a:stretch>
            <a:fillRect/>
          </a:stretch>
        </p:blipFill>
        <p:spPr>
          <a:xfrm>
            <a:off x="23323724" y="20485063"/>
            <a:ext cx="4995342" cy="3726634"/>
          </a:xfrm>
          <a:prstGeom prst="rect">
            <a:avLst/>
          </a:prstGeom>
        </p:spPr>
      </p:pic>
      <p:sp>
        <p:nvSpPr>
          <p:cNvPr id="63" name="TextBox 62">
            <a:extLst>
              <a:ext uri="{FF2B5EF4-FFF2-40B4-BE49-F238E27FC236}">
                <a16:creationId xmlns:a16="http://schemas.microsoft.com/office/drawing/2014/main" id="{B258AE83-1E93-B346-B818-BC022F182D3A}"/>
              </a:ext>
            </a:extLst>
          </p:cNvPr>
          <p:cNvSpPr txBox="1"/>
          <p:nvPr/>
        </p:nvSpPr>
        <p:spPr>
          <a:xfrm>
            <a:off x="15420013" y="17125901"/>
            <a:ext cx="13361457" cy="1384995"/>
          </a:xfrm>
          <a:prstGeom prst="rect">
            <a:avLst/>
          </a:prstGeom>
          <a:noFill/>
        </p:spPr>
        <p:txBody>
          <a:bodyPr wrap="square">
            <a:spAutoFit/>
          </a:bodyPr>
          <a:lstStyle/>
          <a:p>
            <a:r>
              <a:rPr lang="en-US" sz="2800" dirty="0"/>
              <a:t>To construct the mathematical model computationally, we developed an approximately </a:t>
            </a:r>
            <a:r>
              <a:rPr lang="en-US" sz="2800" b="1" dirty="0"/>
              <a:t>200-line</a:t>
            </a:r>
            <a:r>
              <a:rPr lang="en-US" sz="2800" dirty="0"/>
              <a:t> </a:t>
            </a:r>
            <a:r>
              <a:rPr lang="en-US" sz="2800" b="1" dirty="0"/>
              <a:t>MATLAB</a:t>
            </a:r>
            <a:r>
              <a:rPr lang="en-US" sz="2800" dirty="0"/>
              <a:t> code that can be readily molded for various scenarios and conditions (assuming available information).</a:t>
            </a:r>
            <a:endParaRPr lang="en-US" sz="2800" i="1" dirty="0"/>
          </a:p>
        </p:txBody>
      </p:sp>
      <p:sp>
        <p:nvSpPr>
          <p:cNvPr id="65" name="TextBox 64">
            <a:extLst>
              <a:ext uri="{FF2B5EF4-FFF2-40B4-BE49-F238E27FC236}">
                <a16:creationId xmlns:a16="http://schemas.microsoft.com/office/drawing/2014/main" id="{1289B3CE-34AC-4EB7-6D48-E1051789500E}"/>
              </a:ext>
            </a:extLst>
          </p:cNvPr>
          <p:cNvSpPr txBox="1"/>
          <p:nvPr/>
        </p:nvSpPr>
        <p:spPr>
          <a:xfrm>
            <a:off x="18992529" y="18924579"/>
            <a:ext cx="6185700" cy="1077218"/>
          </a:xfrm>
          <a:prstGeom prst="rect">
            <a:avLst/>
          </a:prstGeom>
          <a:noFill/>
        </p:spPr>
        <p:txBody>
          <a:bodyPr wrap="square">
            <a:spAutoFit/>
          </a:bodyPr>
          <a:lstStyle/>
          <a:p>
            <a:pPr algn="ctr"/>
            <a:r>
              <a:rPr lang="en-US" sz="3200" b="1" dirty="0"/>
              <a:t>INITIAL CONDITIONS FROM USER (See</a:t>
            </a:r>
            <a:r>
              <a:rPr lang="en-US" sz="3200" b="1" i="1" dirty="0"/>
              <a:t> Considerations of Model</a:t>
            </a:r>
            <a:r>
              <a:rPr lang="en-US" sz="3200" b="1" dirty="0"/>
              <a:t>)</a:t>
            </a:r>
            <a:endParaRPr lang="en-US" sz="3200" dirty="0"/>
          </a:p>
        </p:txBody>
      </p:sp>
      <p:sp>
        <p:nvSpPr>
          <p:cNvPr id="68" name="Arrow: Down 67">
            <a:extLst>
              <a:ext uri="{FF2B5EF4-FFF2-40B4-BE49-F238E27FC236}">
                <a16:creationId xmlns:a16="http://schemas.microsoft.com/office/drawing/2014/main" id="{476AD465-AF82-FB2F-0BC3-C1D3D10A2C4E}"/>
              </a:ext>
            </a:extLst>
          </p:cNvPr>
          <p:cNvSpPr/>
          <p:nvPr/>
        </p:nvSpPr>
        <p:spPr>
          <a:xfrm>
            <a:off x="21699770" y="20078889"/>
            <a:ext cx="474760" cy="2746438"/>
          </a:xfrm>
          <a:prstGeom prst="down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0" name="Arrow: Down 69">
            <a:extLst>
              <a:ext uri="{FF2B5EF4-FFF2-40B4-BE49-F238E27FC236}">
                <a16:creationId xmlns:a16="http://schemas.microsoft.com/office/drawing/2014/main" id="{ABC4EFCF-2045-EBEE-D8AD-5200E56CE884}"/>
              </a:ext>
            </a:extLst>
          </p:cNvPr>
          <p:cNvSpPr/>
          <p:nvPr/>
        </p:nvSpPr>
        <p:spPr>
          <a:xfrm>
            <a:off x="21682014" y="22945415"/>
            <a:ext cx="510273" cy="5260628"/>
          </a:xfrm>
          <a:prstGeom prst="down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Arrow: Down 72">
            <a:extLst>
              <a:ext uri="{FF2B5EF4-FFF2-40B4-BE49-F238E27FC236}">
                <a16:creationId xmlns:a16="http://schemas.microsoft.com/office/drawing/2014/main" id="{33AE16D5-12A4-C741-C59B-C43B5AF9BD6C}"/>
              </a:ext>
            </a:extLst>
          </p:cNvPr>
          <p:cNvSpPr/>
          <p:nvPr/>
        </p:nvSpPr>
        <p:spPr>
          <a:xfrm rot="19055968">
            <a:off x="20331122" y="25807057"/>
            <a:ext cx="478899" cy="2764897"/>
          </a:xfrm>
          <a:prstGeom prst="down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5" name="TextBox 74">
            <a:extLst>
              <a:ext uri="{FF2B5EF4-FFF2-40B4-BE49-F238E27FC236}">
                <a16:creationId xmlns:a16="http://schemas.microsoft.com/office/drawing/2014/main" id="{1D2D9182-ACBD-C0AF-8DFD-D01C1D9C1712}"/>
              </a:ext>
            </a:extLst>
          </p:cNvPr>
          <p:cNvSpPr txBox="1"/>
          <p:nvPr/>
        </p:nvSpPr>
        <p:spPr>
          <a:xfrm>
            <a:off x="20741789" y="28417694"/>
            <a:ext cx="2417293" cy="1077218"/>
          </a:xfrm>
          <a:prstGeom prst="rect">
            <a:avLst/>
          </a:prstGeom>
          <a:noFill/>
        </p:spPr>
        <p:txBody>
          <a:bodyPr wrap="square">
            <a:spAutoFit/>
          </a:bodyPr>
          <a:lstStyle/>
          <a:p>
            <a:pPr algn="ctr"/>
            <a:r>
              <a:rPr lang="en-US" sz="3200" b="1" dirty="0"/>
              <a:t>RUN MODEL CODE</a:t>
            </a:r>
            <a:endParaRPr lang="en-US" sz="3200" i="1" dirty="0"/>
          </a:p>
        </p:txBody>
      </p:sp>
      <p:sp>
        <p:nvSpPr>
          <p:cNvPr id="83" name="TextBox 82">
            <a:extLst>
              <a:ext uri="{FF2B5EF4-FFF2-40B4-BE49-F238E27FC236}">
                <a16:creationId xmlns:a16="http://schemas.microsoft.com/office/drawing/2014/main" id="{D2BDDBB7-DA71-1A1D-C176-EC01FA1D536C}"/>
              </a:ext>
            </a:extLst>
          </p:cNvPr>
          <p:cNvSpPr txBox="1"/>
          <p:nvPr/>
        </p:nvSpPr>
        <p:spPr>
          <a:xfrm>
            <a:off x="26566140" y="27813214"/>
            <a:ext cx="1752926" cy="646331"/>
          </a:xfrm>
          <a:prstGeom prst="rect">
            <a:avLst/>
          </a:prstGeom>
          <a:noFill/>
        </p:spPr>
        <p:txBody>
          <a:bodyPr wrap="square">
            <a:spAutoFit/>
          </a:bodyPr>
          <a:lstStyle/>
          <a:p>
            <a:r>
              <a:rPr lang="en-US" sz="3600" b="1" i="1" dirty="0"/>
              <a:t>L </a:t>
            </a:r>
            <a:r>
              <a:rPr lang="en-US" sz="3600" b="1" dirty="0"/>
              <a:t>Times</a:t>
            </a:r>
            <a:endParaRPr lang="en-US" sz="3600" dirty="0"/>
          </a:p>
        </p:txBody>
      </p:sp>
      <p:sp>
        <p:nvSpPr>
          <p:cNvPr id="84" name="TextBox 83">
            <a:extLst>
              <a:ext uri="{FF2B5EF4-FFF2-40B4-BE49-F238E27FC236}">
                <a16:creationId xmlns:a16="http://schemas.microsoft.com/office/drawing/2014/main" id="{1B3D665E-D4BE-361F-1D08-33E39353822F}"/>
              </a:ext>
            </a:extLst>
          </p:cNvPr>
          <p:cNvSpPr txBox="1"/>
          <p:nvPr/>
        </p:nvSpPr>
        <p:spPr>
          <a:xfrm>
            <a:off x="15805364" y="27882877"/>
            <a:ext cx="1718354" cy="646331"/>
          </a:xfrm>
          <a:prstGeom prst="rect">
            <a:avLst/>
          </a:prstGeom>
          <a:noFill/>
        </p:spPr>
        <p:txBody>
          <a:bodyPr wrap="square">
            <a:spAutoFit/>
          </a:bodyPr>
          <a:lstStyle/>
          <a:p>
            <a:r>
              <a:rPr lang="en-US" sz="3600" b="1" i="1" dirty="0"/>
              <a:t>L </a:t>
            </a:r>
            <a:r>
              <a:rPr lang="en-US" sz="3600" b="1" dirty="0"/>
              <a:t>Times</a:t>
            </a:r>
            <a:endParaRPr lang="en-US" sz="3600" dirty="0"/>
          </a:p>
        </p:txBody>
      </p:sp>
      <p:sp>
        <p:nvSpPr>
          <p:cNvPr id="85" name="Arrow: Down 84">
            <a:extLst>
              <a:ext uri="{FF2B5EF4-FFF2-40B4-BE49-F238E27FC236}">
                <a16:creationId xmlns:a16="http://schemas.microsoft.com/office/drawing/2014/main" id="{2F703863-A722-F7C0-AAB8-8B644B9160FD}"/>
              </a:ext>
            </a:extLst>
          </p:cNvPr>
          <p:cNvSpPr/>
          <p:nvPr/>
        </p:nvSpPr>
        <p:spPr>
          <a:xfrm>
            <a:off x="21673199" y="29584849"/>
            <a:ext cx="477334" cy="3248873"/>
          </a:xfrm>
          <a:prstGeom prst="down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85">
            <a:extLst>
              <a:ext uri="{FF2B5EF4-FFF2-40B4-BE49-F238E27FC236}">
                <a16:creationId xmlns:a16="http://schemas.microsoft.com/office/drawing/2014/main" id="{552B14D0-BD9C-9B25-287F-36CC77D3B1B2}"/>
              </a:ext>
            </a:extLst>
          </p:cNvPr>
          <p:cNvSpPr txBox="1"/>
          <p:nvPr/>
        </p:nvSpPr>
        <p:spPr>
          <a:xfrm>
            <a:off x="19860917" y="33062444"/>
            <a:ext cx="4165629" cy="1077218"/>
          </a:xfrm>
          <a:prstGeom prst="rect">
            <a:avLst/>
          </a:prstGeom>
          <a:noFill/>
        </p:spPr>
        <p:txBody>
          <a:bodyPr wrap="square">
            <a:spAutoFit/>
          </a:bodyPr>
          <a:lstStyle/>
          <a:p>
            <a:pPr algn="ctr"/>
            <a:r>
              <a:rPr lang="en-US" sz="3200" b="1" dirty="0"/>
              <a:t>Output of Model Graphed</a:t>
            </a:r>
            <a:endParaRPr lang="en-US" sz="3200" i="1" dirty="0"/>
          </a:p>
        </p:txBody>
      </p:sp>
      <p:sp>
        <p:nvSpPr>
          <p:cNvPr id="87" name="Arrow: Down 86">
            <a:extLst>
              <a:ext uri="{FF2B5EF4-FFF2-40B4-BE49-F238E27FC236}">
                <a16:creationId xmlns:a16="http://schemas.microsoft.com/office/drawing/2014/main" id="{EC758458-FC21-BB73-0ECA-D3405EC08C93}"/>
              </a:ext>
            </a:extLst>
          </p:cNvPr>
          <p:cNvSpPr/>
          <p:nvPr/>
        </p:nvSpPr>
        <p:spPr>
          <a:xfrm rot="16200000">
            <a:off x="18940359" y="32504185"/>
            <a:ext cx="530232" cy="2193736"/>
          </a:xfrm>
          <a:prstGeom prst="down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8" name="TextBox 87">
            <a:extLst>
              <a:ext uri="{FF2B5EF4-FFF2-40B4-BE49-F238E27FC236}">
                <a16:creationId xmlns:a16="http://schemas.microsoft.com/office/drawing/2014/main" id="{3B83FC69-A087-A3D8-1CF2-59AD6A4CDC13}"/>
              </a:ext>
            </a:extLst>
          </p:cNvPr>
          <p:cNvSpPr txBox="1"/>
          <p:nvPr/>
        </p:nvSpPr>
        <p:spPr>
          <a:xfrm>
            <a:off x="15494644" y="33062444"/>
            <a:ext cx="2426749" cy="1077218"/>
          </a:xfrm>
          <a:prstGeom prst="rect">
            <a:avLst/>
          </a:prstGeom>
          <a:noFill/>
        </p:spPr>
        <p:txBody>
          <a:bodyPr wrap="square">
            <a:spAutoFit/>
          </a:bodyPr>
          <a:lstStyle/>
          <a:p>
            <a:pPr algn="ctr"/>
            <a:r>
              <a:rPr lang="en-US" sz="3200" b="1" dirty="0"/>
              <a:t>Experimental Data</a:t>
            </a:r>
            <a:endParaRPr lang="en-US" sz="3200" dirty="0"/>
          </a:p>
        </p:txBody>
      </p:sp>
      <p:sp>
        <p:nvSpPr>
          <p:cNvPr id="93" name="TextBox 92">
            <a:extLst>
              <a:ext uri="{FF2B5EF4-FFF2-40B4-BE49-F238E27FC236}">
                <a16:creationId xmlns:a16="http://schemas.microsoft.com/office/drawing/2014/main" id="{54666A89-729B-DF0C-AFAB-72F37AF746B8}"/>
              </a:ext>
            </a:extLst>
          </p:cNvPr>
          <p:cNvSpPr txBox="1"/>
          <p:nvPr/>
        </p:nvSpPr>
        <p:spPr>
          <a:xfrm>
            <a:off x="25706143" y="32204765"/>
            <a:ext cx="2864262" cy="584775"/>
          </a:xfrm>
          <a:prstGeom prst="rect">
            <a:avLst/>
          </a:prstGeom>
          <a:noFill/>
        </p:spPr>
        <p:txBody>
          <a:bodyPr wrap="square">
            <a:spAutoFit/>
          </a:bodyPr>
          <a:lstStyle/>
          <a:p>
            <a:r>
              <a:rPr lang="en-US" sz="3200" b="1" dirty="0"/>
              <a:t>Graph of </a:t>
            </a:r>
            <a:r>
              <a:rPr lang="en-US" sz="3200" b="1" i="1" dirty="0"/>
              <a:t>W(</a:t>
            </a:r>
            <a:r>
              <a:rPr lang="en-US" sz="3200" b="1" i="1" dirty="0" err="1"/>
              <a:t>t,P</a:t>
            </a:r>
            <a:r>
              <a:rPr lang="en-US" sz="3200" b="1" i="1" dirty="0"/>
              <a:t>)</a:t>
            </a:r>
            <a:endParaRPr lang="en-US" sz="3200" i="1" dirty="0"/>
          </a:p>
        </p:txBody>
      </p:sp>
      <p:sp>
        <p:nvSpPr>
          <p:cNvPr id="94" name="TextBox 93">
            <a:extLst>
              <a:ext uri="{FF2B5EF4-FFF2-40B4-BE49-F238E27FC236}">
                <a16:creationId xmlns:a16="http://schemas.microsoft.com/office/drawing/2014/main" id="{2DA11BD0-3894-CB5A-A771-77B90ABFC1E5}"/>
              </a:ext>
            </a:extLst>
          </p:cNvPr>
          <p:cNvSpPr txBox="1"/>
          <p:nvPr/>
        </p:nvSpPr>
        <p:spPr>
          <a:xfrm>
            <a:off x="25883544" y="33345221"/>
            <a:ext cx="2435522" cy="584775"/>
          </a:xfrm>
          <a:prstGeom prst="rect">
            <a:avLst/>
          </a:prstGeom>
          <a:noFill/>
        </p:spPr>
        <p:txBody>
          <a:bodyPr wrap="square">
            <a:spAutoFit/>
          </a:bodyPr>
          <a:lstStyle/>
          <a:p>
            <a:r>
              <a:rPr lang="en-US" sz="3200" b="1" dirty="0"/>
              <a:t>Graph of </a:t>
            </a:r>
            <a:r>
              <a:rPr lang="en-US" sz="3200" b="1" i="1" kern="100" dirty="0">
                <a:effectLst/>
                <a:latin typeface="Times New Roman" panose="02020603050405020304" pitchFamily="18" charset="0"/>
                <a:ea typeface="Calibri" panose="020F0502020204030204" pitchFamily="34" charset="0"/>
                <a:cs typeface="Times New Roman" panose="02020603050405020304" pitchFamily="18" charset="0"/>
              </a:rPr>
              <a:t>C</a:t>
            </a:r>
            <a:r>
              <a:rPr lang="en-US" sz="32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F</a:t>
            </a:r>
            <a:endParaRPr lang="en-US" sz="3200" i="1" dirty="0"/>
          </a:p>
        </p:txBody>
      </p:sp>
      <p:sp>
        <p:nvSpPr>
          <p:cNvPr id="95" name="TextBox 94">
            <a:extLst>
              <a:ext uri="{FF2B5EF4-FFF2-40B4-BE49-F238E27FC236}">
                <a16:creationId xmlns:a16="http://schemas.microsoft.com/office/drawing/2014/main" id="{8951B481-8008-3CD9-0CB8-271562ABF9C7}"/>
              </a:ext>
            </a:extLst>
          </p:cNvPr>
          <p:cNvSpPr txBox="1"/>
          <p:nvPr/>
        </p:nvSpPr>
        <p:spPr>
          <a:xfrm>
            <a:off x="25778928" y="34483857"/>
            <a:ext cx="2193737" cy="584775"/>
          </a:xfrm>
          <a:prstGeom prst="rect">
            <a:avLst/>
          </a:prstGeom>
          <a:noFill/>
        </p:spPr>
        <p:txBody>
          <a:bodyPr wrap="square">
            <a:spAutoFit/>
          </a:bodyPr>
          <a:lstStyle/>
          <a:p>
            <a:r>
              <a:rPr lang="en-US" sz="3200" b="1" dirty="0"/>
              <a:t>Graph of </a:t>
            </a:r>
            <a:r>
              <a:rPr lang="en-US" sz="3200" b="1" i="1" kern="100" dirty="0">
                <a:effectLst/>
                <a:latin typeface="Times New Roman" panose="02020603050405020304" pitchFamily="18" charset="0"/>
                <a:ea typeface="Calibri" panose="020F0502020204030204" pitchFamily="34" charset="0"/>
                <a:cs typeface="Times New Roman" panose="02020603050405020304" pitchFamily="18" charset="0"/>
              </a:rPr>
              <a:t>C</a:t>
            </a:r>
            <a:r>
              <a:rPr lang="en-US" sz="3200" b="1" i="1" kern="100" baseline="-25000" dirty="0">
                <a:effectLst/>
                <a:latin typeface="Times New Roman" panose="02020603050405020304" pitchFamily="18" charset="0"/>
                <a:ea typeface="Calibri" panose="020F0502020204030204" pitchFamily="34" charset="0"/>
                <a:cs typeface="Times New Roman" panose="02020603050405020304" pitchFamily="18" charset="0"/>
              </a:rPr>
              <a:t>P</a:t>
            </a:r>
            <a:endParaRPr lang="en-US" sz="3200" i="1" dirty="0"/>
          </a:p>
        </p:txBody>
      </p:sp>
      <p:sp>
        <p:nvSpPr>
          <p:cNvPr id="5" name="Arrow: Left-Right 4">
            <a:extLst>
              <a:ext uri="{FF2B5EF4-FFF2-40B4-BE49-F238E27FC236}">
                <a16:creationId xmlns:a16="http://schemas.microsoft.com/office/drawing/2014/main" id="{A5959427-C645-7877-FFDB-298A8B26B1A9}"/>
              </a:ext>
            </a:extLst>
          </p:cNvPr>
          <p:cNvSpPr/>
          <p:nvPr/>
        </p:nvSpPr>
        <p:spPr>
          <a:xfrm>
            <a:off x="20741789" y="22709112"/>
            <a:ext cx="2480562" cy="442718"/>
          </a:xfrm>
          <a:prstGeom prst="leftRight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Down 13">
            <a:extLst>
              <a:ext uri="{FF2B5EF4-FFF2-40B4-BE49-F238E27FC236}">
                <a16:creationId xmlns:a16="http://schemas.microsoft.com/office/drawing/2014/main" id="{B7662F03-22C8-D7E0-6315-46EA11F2DB2E}"/>
              </a:ext>
            </a:extLst>
          </p:cNvPr>
          <p:cNvSpPr/>
          <p:nvPr/>
        </p:nvSpPr>
        <p:spPr>
          <a:xfrm rot="2544032" flipH="1">
            <a:off x="23044100" y="25807056"/>
            <a:ext cx="478899" cy="2764897"/>
          </a:xfrm>
          <a:prstGeom prst="down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Arrow: Curved Right 17">
            <a:extLst>
              <a:ext uri="{FF2B5EF4-FFF2-40B4-BE49-F238E27FC236}">
                <a16:creationId xmlns:a16="http://schemas.microsoft.com/office/drawing/2014/main" id="{C171CFA9-23AE-B046-6ADF-DECE02BD4559}"/>
              </a:ext>
            </a:extLst>
          </p:cNvPr>
          <p:cNvSpPr/>
          <p:nvPr/>
        </p:nvSpPr>
        <p:spPr>
          <a:xfrm rot="12966525">
            <a:off x="23983250" y="25462554"/>
            <a:ext cx="2215207" cy="4954981"/>
          </a:xfrm>
          <a:prstGeom prst="curvedRight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Arrow: Down 19">
            <a:extLst>
              <a:ext uri="{FF2B5EF4-FFF2-40B4-BE49-F238E27FC236}">
                <a16:creationId xmlns:a16="http://schemas.microsoft.com/office/drawing/2014/main" id="{E666F5AE-3DE1-6673-E971-8204342A5513}"/>
              </a:ext>
            </a:extLst>
          </p:cNvPr>
          <p:cNvSpPr/>
          <p:nvPr/>
        </p:nvSpPr>
        <p:spPr>
          <a:xfrm rot="16200000">
            <a:off x="24415868" y="32540741"/>
            <a:ext cx="530232" cy="2193736"/>
          </a:xfrm>
          <a:prstGeom prst="down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Arrow: Down 20">
            <a:extLst>
              <a:ext uri="{FF2B5EF4-FFF2-40B4-BE49-F238E27FC236}">
                <a16:creationId xmlns:a16="http://schemas.microsoft.com/office/drawing/2014/main" id="{D3D4F582-536B-675B-8C63-A6DADEE20F72}"/>
              </a:ext>
            </a:extLst>
          </p:cNvPr>
          <p:cNvSpPr/>
          <p:nvPr/>
        </p:nvSpPr>
        <p:spPr>
          <a:xfrm rot="17341337">
            <a:off x="24313638" y="33352843"/>
            <a:ext cx="530232" cy="2193736"/>
          </a:xfrm>
          <a:prstGeom prst="down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Arrow: Down 27">
            <a:extLst>
              <a:ext uri="{FF2B5EF4-FFF2-40B4-BE49-F238E27FC236}">
                <a16:creationId xmlns:a16="http://schemas.microsoft.com/office/drawing/2014/main" id="{5E639BE9-5F5B-C71A-04FF-452AA5BB4AAD}"/>
              </a:ext>
            </a:extLst>
          </p:cNvPr>
          <p:cNvSpPr/>
          <p:nvPr/>
        </p:nvSpPr>
        <p:spPr>
          <a:xfrm rot="4258663" flipV="1">
            <a:off x="24313638" y="31746990"/>
            <a:ext cx="530232" cy="2193736"/>
          </a:xfrm>
          <a:prstGeom prst="down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533EBC38-675F-002E-A889-2DEC1645A525}"/>
              </a:ext>
            </a:extLst>
          </p:cNvPr>
          <p:cNvSpPr txBox="1"/>
          <p:nvPr/>
        </p:nvSpPr>
        <p:spPr>
          <a:xfrm>
            <a:off x="1002610" y="5008696"/>
            <a:ext cx="13005056" cy="8094524"/>
          </a:xfrm>
          <a:prstGeom prst="rect">
            <a:avLst/>
          </a:prstGeom>
          <a:noFill/>
        </p:spPr>
        <p:txBody>
          <a:bodyPr wrap="square" rtlCol="0">
            <a:spAutoFit/>
          </a:bodyPr>
          <a:lstStyle/>
          <a:p>
            <a:pPr marL="457200" indent="-457200">
              <a:spcBef>
                <a:spcPts val="300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efficiency of aquaponics systems has become a pressing issue, as their use continues to grow. Models have been developed to help understand their nutrient and energy dynamics in the effort to improve these systems (</a:t>
            </a:r>
            <a:r>
              <a:rPr lang="en-US" sz="2800" i="1" dirty="0" err="1">
                <a:effectLst/>
                <a:latin typeface="Times New Roman" panose="02020603050405020304" pitchFamily="18" charset="0"/>
              </a:rPr>
              <a:t>Debrota</a:t>
            </a:r>
            <a:r>
              <a:rPr lang="en-US" sz="2800" i="1" dirty="0">
                <a:effectLst/>
                <a:latin typeface="Times New Roman" panose="02020603050405020304" pitchFamily="18" charset="0"/>
              </a:rPr>
              <a:t>, K. , 2017, </a:t>
            </a:r>
            <a:r>
              <a:rPr lang="en-US" sz="2800" i="1" dirty="0" err="1">
                <a:effectLst/>
                <a:latin typeface="Times New Roman" panose="02020603050405020304" pitchFamily="18" charset="0"/>
              </a:rPr>
              <a:t>Yogev</a:t>
            </a:r>
            <a:r>
              <a:rPr lang="en-US" sz="2800" i="1" dirty="0">
                <a:effectLst/>
                <a:latin typeface="Times New Roman" panose="02020603050405020304" pitchFamily="18" charset="0"/>
              </a:rPr>
              <a:t>, U. et. al., 2016</a:t>
            </a:r>
            <a:r>
              <a:rPr lang="en-US" sz="2800" dirty="0">
                <a:effectLst/>
                <a:latin typeface="Times New Roman" panose="02020603050405020304" pitchFamily="18" charset="0"/>
              </a:rPr>
              <a:t>).</a:t>
            </a:r>
          </a:p>
          <a:p>
            <a:pPr marL="457200" indent="-457200">
              <a:spcBef>
                <a:spcPts val="300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Nitrogen cycling is crucial in aquaponics systems, as </a:t>
            </a:r>
            <a:r>
              <a:rPr lang="en-US" sz="2800" b="1" dirty="0">
                <a:latin typeface="Times New Roman" panose="02020603050405020304" pitchFamily="18" charset="0"/>
                <a:cs typeface="Times New Roman" panose="02020603050405020304" pitchFamily="18" charset="0"/>
              </a:rPr>
              <a:t>nitrate</a:t>
            </a:r>
            <a:r>
              <a:rPr lang="en-US" sz="2800" dirty="0">
                <a:latin typeface="Times New Roman" panose="02020603050405020304" pitchFamily="18" charset="0"/>
                <a:cs typeface="Times New Roman" panose="02020603050405020304" pitchFamily="18" charset="0"/>
              </a:rPr>
              <a:t> is a major nutrient desired by plants. </a:t>
            </a:r>
            <a:r>
              <a:rPr lang="en-US" sz="2800" b="1" dirty="0">
                <a:latin typeface="Times New Roman" panose="02020603050405020304" pitchFamily="18" charset="0"/>
                <a:cs typeface="Times New Roman" panose="02020603050405020304" pitchFamily="18" charset="0"/>
              </a:rPr>
              <a:t>Nitrate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availability</a:t>
            </a:r>
            <a:r>
              <a:rPr lang="en-US" sz="2800" dirty="0">
                <a:latin typeface="Times New Roman" panose="02020603050405020304" pitchFamily="18" charset="0"/>
                <a:cs typeface="Times New Roman" panose="02020603050405020304" pitchFamily="18" charset="0"/>
              </a:rPr>
              <a:t> is impacted by many components of aquaponics setup and therefore, is often a nutrient of </a:t>
            </a:r>
            <a:r>
              <a:rPr lang="en-US" sz="2800" b="1" dirty="0">
                <a:latin typeface="Times New Roman" panose="02020603050405020304" pitchFamily="18" charset="0"/>
                <a:cs typeface="Times New Roman" panose="02020603050405020304" pitchFamily="18" charset="0"/>
              </a:rPr>
              <a:t>concern </a:t>
            </a:r>
            <a:r>
              <a:rPr lang="en-US" sz="2800" dirty="0">
                <a:latin typeface="Times New Roman" panose="02020603050405020304" pitchFamily="18" charset="0"/>
                <a:cs typeface="Times New Roman" panose="02020603050405020304" pitchFamily="18" charset="0"/>
              </a:rPr>
              <a:t>(</a:t>
            </a:r>
            <a:r>
              <a:rPr lang="en-US" sz="2800" i="1" dirty="0" err="1">
                <a:effectLst/>
                <a:latin typeface="Times New Roman" panose="02020603050405020304" pitchFamily="18" charset="0"/>
              </a:rPr>
              <a:t>Wongkiew</a:t>
            </a:r>
            <a:r>
              <a:rPr lang="en-US" sz="2800" i="1" dirty="0">
                <a:effectLst/>
                <a:latin typeface="Times New Roman" panose="02020603050405020304" pitchFamily="18" charset="0"/>
              </a:rPr>
              <a:t>, S. et. al</a:t>
            </a:r>
            <a:r>
              <a:rPr lang="en-US" sz="2800" dirty="0">
                <a:effectLst/>
                <a:latin typeface="Times New Roman" panose="02020603050405020304" pitchFamily="18" charset="0"/>
              </a:rPr>
              <a:t>., 2017)</a:t>
            </a:r>
            <a:r>
              <a:rPr lang="en-US" sz="2800" dirty="0">
                <a:latin typeface="Times New Roman" panose="02020603050405020304" pitchFamily="18" charset="0"/>
                <a:cs typeface="Times New Roman" panose="02020603050405020304" pitchFamily="18" charset="0"/>
              </a:rPr>
              <a:t>.</a:t>
            </a:r>
          </a:p>
          <a:p>
            <a:pPr marL="457200" indent="-457200">
              <a:spcBef>
                <a:spcPts val="300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Models have been developed to analyze nitrate concentrations (and closely related nitrogen-cycle compounds) in </a:t>
            </a:r>
            <a:r>
              <a:rPr lang="en-US" sz="2800" b="1" dirty="0">
                <a:latin typeface="Times New Roman" panose="02020603050405020304" pitchFamily="18" charset="0"/>
                <a:cs typeface="Times New Roman" panose="02020603050405020304" pitchFamily="18" charset="0"/>
              </a:rPr>
              <a:t>coupled</a:t>
            </a:r>
            <a:r>
              <a:rPr lang="en-US" sz="2800" dirty="0">
                <a:latin typeface="Times New Roman" panose="02020603050405020304" pitchFamily="18" charset="0"/>
                <a:cs typeface="Times New Roman" panose="02020603050405020304" pitchFamily="18" charset="0"/>
              </a:rPr>
              <a:t> aquaponics systems (</a:t>
            </a:r>
            <a:r>
              <a:rPr lang="en-US" sz="2800" i="1" dirty="0" err="1">
                <a:effectLst/>
                <a:latin typeface="Times New Roman" panose="02020603050405020304" pitchFamily="18" charset="0"/>
              </a:rPr>
              <a:t>Shazila</a:t>
            </a:r>
            <a:r>
              <a:rPr lang="en-US" sz="2800" i="1" dirty="0">
                <a:effectLst/>
                <a:latin typeface="Times New Roman" panose="02020603050405020304" pitchFamily="18" charset="0"/>
              </a:rPr>
              <a:t>, E</a:t>
            </a:r>
            <a:r>
              <a:rPr lang="en-US" sz="2800" i="1" dirty="0">
                <a:latin typeface="Times New Roman" panose="02020603050405020304" pitchFamily="18" charset="0"/>
                <a:cs typeface="Times New Roman" panose="02020603050405020304" pitchFamily="18" charset="0"/>
              </a:rPr>
              <a:t>. et.al</a:t>
            </a:r>
            <a:r>
              <a:rPr lang="en-US" sz="2800" dirty="0">
                <a:latin typeface="Times New Roman" panose="02020603050405020304" pitchFamily="18" charset="0"/>
                <a:cs typeface="Times New Roman" panose="02020603050405020304" pitchFamily="18" charset="0"/>
              </a:rPr>
              <a:t>., 2022).</a:t>
            </a:r>
          </a:p>
          <a:p>
            <a:pPr marL="457200" indent="-457200">
              <a:spcBef>
                <a:spcPts val="300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nitrate added to an aquaponics system can be </a:t>
            </a:r>
            <a:r>
              <a:rPr lang="en-US" sz="2800" b="1" dirty="0">
                <a:latin typeface="Times New Roman" panose="02020603050405020304" pitchFamily="18" charset="0"/>
                <a:cs typeface="Times New Roman" panose="02020603050405020304" pitchFamily="18" charset="0"/>
              </a:rPr>
              <a:t>proportionally related </a:t>
            </a:r>
            <a:r>
              <a:rPr lang="en-US" sz="2800" dirty="0">
                <a:latin typeface="Times New Roman" panose="02020603050405020304" pitchFamily="18" charset="0"/>
                <a:cs typeface="Times New Roman" panose="02020603050405020304" pitchFamily="18" charset="0"/>
              </a:rPr>
              <a:t>to the protein percent of feed fed to the fish of the system (</a:t>
            </a:r>
            <a:r>
              <a:rPr lang="en-US" sz="2800" i="1" dirty="0">
                <a:effectLst/>
                <a:latin typeface="Times New Roman" panose="02020603050405020304" pitchFamily="18" charset="0"/>
              </a:rPr>
              <a:t>Ebeling, J. M. et</a:t>
            </a:r>
            <a:r>
              <a:rPr lang="en-US" sz="2800" i="1" dirty="0">
                <a:latin typeface="Times New Roman" panose="02020603050405020304" pitchFamily="18" charset="0"/>
                <a:cs typeface="Times New Roman" panose="02020603050405020304" pitchFamily="18" charset="0"/>
              </a:rPr>
              <a:t>.al., 2006</a:t>
            </a:r>
            <a:r>
              <a:rPr lang="en-US" sz="2800" dirty="0">
                <a:latin typeface="Times New Roman" panose="02020603050405020304" pitchFamily="18" charset="0"/>
                <a:cs typeface="Times New Roman" panose="02020603050405020304" pitchFamily="18" charset="0"/>
              </a:rPr>
              <a:t>).</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This relation suggests the possibility of improving the efficiency of a system, both plants and fish, by altering the protein content of the feed inputted to the system.</a:t>
            </a:r>
          </a:p>
          <a:p>
            <a:pPr marL="457200" indent="-457200">
              <a:spcBef>
                <a:spcPts val="3000"/>
              </a:spcBef>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A737934A-0981-B5C5-9B47-7782B7E1E8B0}"/>
              </a:ext>
            </a:extLst>
          </p:cNvPr>
          <p:cNvSpPr txBox="1"/>
          <p:nvPr/>
        </p:nvSpPr>
        <p:spPr>
          <a:xfrm>
            <a:off x="29903143" y="27095361"/>
            <a:ext cx="13228761" cy="5078313"/>
          </a:xfrm>
          <a:prstGeom prst="rect">
            <a:avLst/>
          </a:prstGeom>
          <a:noFill/>
        </p:spPr>
        <p:txBody>
          <a:bodyPr wrap="square">
            <a:spAutoFit/>
          </a:bodyPr>
          <a:lstStyle/>
          <a:p>
            <a:pPr marL="457200" indent="-457200"/>
            <a:r>
              <a:rPr lang="en-US" sz="1800" dirty="0" err="1">
                <a:effectLst/>
                <a:latin typeface="Times New Roman" panose="02020603050405020304" pitchFamily="18" charset="0"/>
              </a:rPr>
              <a:t>Debrota</a:t>
            </a:r>
            <a:r>
              <a:rPr lang="en-US" sz="1800" dirty="0">
                <a:effectLst/>
                <a:latin typeface="Times New Roman" panose="02020603050405020304" pitchFamily="18" charset="0"/>
              </a:rPr>
              <a:t>, K. (2017). </a:t>
            </a:r>
            <a:r>
              <a:rPr lang="en-US" i="1" dirty="0">
                <a:latin typeface="Times New Roman" panose="02020603050405020304" pitchFamily="18" charset="0"/>
              </a:rPr>
              <a:t>M</a:t>
            </a:r>
            <a:r>
              <a:rPr lang="en-US" sz="1800" i="1" dirty="0">
                <a:effectLst/>
                <a:latin typeface="Times New Roman" panose="02020603050405020304" pitchFamily="18" charset="0"/>
              </a:rPr>
              <a:t>echanistic </a:t>
            </a:r>
            <a:r>
              <a:rPr lang="en-US" i="1" dirty="0">
                <a:latin typeface="Times New Roman" panose="02020603050405020304" pitchFamily="18" charset="0"/>
              </a:rPr>
              <a:t>M</a:t>
            </a:r>
            <a:r>
              <a:rPr lang="en-US" sz="1800" i="1" dirty="0">
                <a:effectLst/>
                <a:latin typeface="Times New Roman" panose="02020603050405020304" pitchFamily="18" charset="0"/>
              </a:rPr>
              <a:t>odeling of an Aquaponic </a:t>
            </a:r>
            <a:r>
              <a:rPr lang="en-US" i="1" dirty="0">
                <a:latin typeface="Times New Roman" panose="02020603050405020304" pitchFamily="18" charset="0"/>
              </a:rPr>
              <a:t>C</a:t>
            </a:r>
            <a:r>
              <a:rPr lang="en-US" sz="1800" i="1" dirty="0">
                <a:effectLst/>
                <a:latin typeface="Times New Roman" panose="02020603050405020304" pitchFamily="18" charset="0"/>
              </a:rPr>
              <a:t>ontrolled-</a:t>
            </a:r>
            <a:r>
              <a:rPr lang="en-US" i="1" dirty="0">
                <a:latin typeface="Times New Roman" panose="02020603050405020304" pitchFamily="18" charset="0"/>
              </a:rPr>
              <a:t>E</a:t>
            </a:r>
            <a:r>
              <a:rPr lang="en-US" sz="1800" i="1" dirty="0">
                <a:effectLst/>
                <a:latin typeface="Times New Roman" panose="02020603050405020304" pitchFamily="18" charset="0"/>
              </a:rPr>
              <a:t>nvironment </a:t>
            </a:r>
            <a:r>
              <a:rPr lang="en-US" i="1" dirty="0">
                <a:latin typeface="Times New Roman" panose="02020603050405020304" pitchFamily="18" charset="0"/>
              </a:rPr>
              <a:t>A</a:t>
            </a:r>
            <a:r>
              <a:rPr lang="en-US" sz="1800" i="1" dirty="0">
                <a:effectLst/>
                <a:latin typeface="Times New Roman" panose="02020603050405020304" pitchFamily="18" charset="0"/>
              </a:rPr>
              <a:t>griculture </a:t>
            </a:r>
            <a:r>
              <a:rPr lang="en-US" i="1" dirty="0">
                <a:latin typeface="Times New Roman" panose="02020603050405020304" pitchFamily="18" charset="0"/>
              </a:rPr>
              <a:t>S</a:t>
            </a:r>
            <a:r>
              <a:rPr lang="en-US" sz="1800" i="1" dirty="0">
                <a:effectLst/>
                <a:latin typeface="Times New Roman" panose="02020603050405020304" pitchFamily="18" charset="0"/>
              </a:rPr>
              <a:t>ystem: Nutrient and Water </a:t>
            </a:r>
            <a:r>
              <a:rPr lang="en-US" i="1" dirty="0">
                <a:latin typeface="Times New Roman" panose="02020603050405020304" pitchFamily="18" charset="0"/>
              </a:rPr>
              <a:t>D</a:t>
            </a:r>
            <a:r>
              <a:rPr lang="en-US" sz="1800" i="1" dirty="0">
                <a:effectLst/>
                <a:latin typeface="Times New Roman" panose="02020603050405020304" pitchFamily="18" charset="0"/>
              </a:rPr>
              <a:t>ynamics, </a:t>
            </a:r>
            <a:r>
              <a:rPr lang="en-US" i="1" dirty="0">
                <a:latin typeface="Times New Roman" panose="02020603050405020304" pitchFamily="18" charset="0"/>
              </a:rPr>
              <a:t>H</a:t>
            </a:r>
            <a:r>
              <a:rPr lang="en-US" sz="1800" i="1" dirty="0">
                <a:effectLst/>
                <a:latin typeface="Times New Roman" panose="02020603050405020304" pitchFamily="18" charset="0"/>
              </a:rPr>
              <a:t>arvest </a:t>
            </a:r>
            <a:r>
              <a:rPr lang="en-US" i="1" dirty="0">
                <a:latin typeface="Times New Roman" panose="02020603050405020304" pitchFamily="18" charset="0"/>
              </a:rPr>
              <a:t>P</a:t>
            </a:r>
            <a:r>
              <a:rPr lang="en-US" sz="1800" i="1" dirty="0">
                <a:effectLst/>
                <a:latin typeface="Times New Roman" panose="02020603050405020304" pitchFamily="18" charset="0"/>
              </a:rPr>
              <a:t>roductivity, and Waste </a:t>
            </a:r>
            <a:r>
              <a:rPr lang="en-US" i="1" dirty="0">
                <a:latin typeface="Times New Roman" panose="02020603050405020304" pitchFamily="18" charset="0"/>
              </a:rPr>
              <a:t>T</a:t>
            </a:r>
            <a:r>
              <a:rPr lang="en-US" sz="1800" i="1" dirty="0">
                <a:effectLst/>
                <a:latin typeface="Times New Roman" panose="02020603050405020304" pitchFamily="18" charset="0"/>
              </a:rPr>
              <a:t>reatment A Dissertation Presented to The Academic Faculty</a:t>
            </a:r>
            <a:r>
              <a:rPr lang="en-US" sz="1800" dirty="0">
                <a:effectLst/>
                <a:latin typeface="Times New Roman" panose="02020603050405020304" pitchFamily="18" charset="0"/>
              </a:rPr>
              <a:t>. https://repository.gatech.edu/server/api/core/bitstreams/25032e72-38e1-4c8f-9428-098cf650455e/content</a:t>
            </a:r>
          </a:p>
          <a:p>
            <a:pPr marL="457200" indent="-457200"/>
            <a:r>
              <a:rPr lang="en-US" sz="1800" dirty="0">
                <a:effectLst/>
                <a:latin typeface="Times New Roman" panose="02020603050405020304" pitchFamily="18" charset="0"/>
              </a:rPr>
              <a:t>Ebeling, J. M., Timmons, M. B., &amp; </a:t>
            </a:r>
            <a:r>
              <a:rPr lang="en-US" sz="1800" dirty="0" err="1">
                <a:effectLst/>
                <a:latin typeface="Times New Roman" panose="02020603050405020304" pitchFamily="18" charset="0"/>
              </a:rPr>
              <a:t>Bisogni</a:t>
            </a:r>
            <a:r>
              <a:rPr lang="en-US" sz="1800" dirty="0">
                <a:effectLst/>
                <a:latin typeface="Times New Roman" panose="02020603050405020304" pitchFamily="18" charset="0"/>
              </a:rPr>
              <a:t>, J. J. (2006). Engineering analysis of the stoichiometry of photoautotrophic, autotrophic, and heterotrophic removal of ammonia–nitrogen in aquaculture systems. </a:t>
            </a:r>
            <a:r>
              <a:rPr lang="en-US" sz="1800" i="1" dirty="0">
                <a:effectLst/>
                <a:latin typeface="Times New Roman" panose="02020603050405020304" pitchFamily="18" charset="0"/>
              </a:rPr>
              <a:t>Aquaculture</a:t>
            </a:r>
            <a:r>
              <a:rPr lang="en-US" sz="1800" dirty="0">
                <a:effectLst/>
                <a:latin typeface="Times New Roman" panose="02020603050405020304" pitchFamily="18" charset="0"/>
              </a:rPr>
              <a:t>, </a:t>
            </a:r>
            <a:r>
              <a:rPr lang="en-US" sz="1800" i="1" dirty="0">
                <a:effectLst/>
                <a:latin typeface="Times New Roman" panose="02020603050405020304" pitchFamily="18" charset="0"/>
              </a:rPr>
              <a:t>257</a:t>
            </a:r>
            <a:r>
              <a:rPr lang="en-US" sz="1800" dirty="0">
                <a:effectLst/>
                <a:latin typeface="Times New Roman" panose="02020603050405020304" pitchFamily="18" charset="0"/>
              </a:rPr>
              <a:t>(1-4), 346–358. https://doi.org/10.1016/j.aquaculture.2006.03.019</a:t>
            </a:r>
          </a:p>
          <a:p>
            <a:pPr marL="457200" indent="-457200"/>
            <a:r>
              <a:rPr lang="en-US" sz="1800" dirty="0" err="1">
                <a:effectLst/>
                <a:latin typeface="Times New Roman" panose="02020603050405020304" pitchFamily="18" charset="0"/>
              </a:rPr>
              <a:t>Hafedh</a:t>
            </a:r>
            <a:r>
              <a:rPr lang="en-US" sz="1800" dirty="0">
                <a:effectLst/>
                <a:latin typeface="Times New Roman" panose="02020603050405020304" pitchFamily="18" charset="0"/>
              </a:rPr>
              <a:t>, Y. S. A. (1999). Effects of dietary protein on growth and body composition of Nile tilapia, Oreochromis </a:t>
            </a:r>
            <a:r>
              <a:rPr lang="en-US" sz="1800" dirty="0" err="1">
                <a:effectLst/>
                <a:latin typeface="Times New Roman" panose="02020603050405020304" pitchFamily="18" charset="0"/>
              </a:rPr>
              <a:t>niloticus</a:t>
            </a:r>
            <a:r>
              <a:rPr lang="en-US" sz="1800" dirty="0">
                <a:effectLst/>
                <a:latin typeface="Times New Roman" panose="02020603050405020304" pitchFamily="18" charset="0"/>
              </a:rPr>
              <a:t> L. </a:t>
            </a:r>
            <a:r>
              <a:rPr lang="en-US" sz="1800" i="1" dirty="0">
                <a:effectLst/>
                <a:latin typeface="Times New Roman" panose="02020603050405020304" pitchFamily="18" charset="0"/>
              </a:rPr>
              <a:t>Aquaculture Research</a:t>
            </a:r>
            <a:r>
              <a:rPr lang="en-US" sz="1800" dirty="0">
                <a:effectLst/>
                <a:latin typeface="Times New Roman" panose="02020603050405020304" pitchFamily="18" charset="0"/>
              </a:rPr>
              <a:t>, </a:t>
            </a:r>
            <a:r>
              <a:rPr lang="en-US" sz="1800" i="1" dirty="0">
                <a:effectLst/>
                <a:latin typeface="Times New Roman" panose="02020603050405020304" pitchFamily="18" charset="0"/>
              </a:rPr>
              <a:t>30</a:t>
            </a:r>
            <a:r>
              <a:rPr lang="en-US" sz="1800" dirty="0">
                <a:effectLst/>
                <a:latin typeface="Times New Roman" panose="02020603050405020304" pitchFamily="18" charset="0"/>
              </a:rPr>
              <a:t>(5), 385–393. https://doi.org/10.1046/j.1365-2109.1999.00343.x</a:t>
            </a:r>
          </a:p>
          <a:p>
            <a:pPr marL="457200" indent="-457200"/>
            <a:r>
              <a:rPr lang="en-US" sz="1800" dirty="0" err="1">
                <a:effectLst/>
                <a:latin typeface="Times New Roman" panose="02020603050405020304" pitchFamily="18" charset="0"/>
              </a:rPr>
              <a:t>Shazila</a:t>
            </a:r>
            <a:r>
              <a:rPr lang="en-US" sz="1800" dirty="0">
                <a:effectLst/>
                <a:latin typeface="Times New Roman" panose="02020603050405020304" pitchFamily="18" charset="0"/>
              </a:rPr>
              <a:t>, E., Roni, M., &amp; Ali, A. (2022). Mathematical Modelling of an Aquaponics System in the Presence of Nitrite. </a:t>
            </a:r>
            <a:r>
              <a:rPr lang="en-US" sz="1800" i="1" dirty="0">
                <a:effectLst/>
                <a:latin typeface="Times New Roman" panose="02020603050405020304" pitchFamily="18" charset="0"/>
              </a:rPr>
              <a:t>Proceedings of Math and Science</a:t>
            </a:r>
            <a:r>
              <a:rPr lang="en-US" sz="1800" dirty="0">
                <a:effectLst/>
                <a:latin typeface="Times New Roman" panose="02020603050405020304" pitchFamily="18" charset="0"/>
              </a:rPr>
              <a:t>, </a:t>
            </a:r>
            <a:r>
              <a:rPr lang="en-US" sz="1800" i="1" dirty="0">
                <a:effectLst/>
                <a:latin typeface="Times New Roman" panose="02020603050405020304" pitchFamily="18" charset="0"/>
              </a:rPr>
              <a:t>9</a:t>
            </a:r>
            <a:r>
              <a:rPr lang="en-US" sz="1800" dirty="0">
                <a:effectLst/>
                <a:latin typeface="Times New Roman" panose="02020603050405020304" pitchFamily="18" charset="0"/>
              </a:rPr>
              <a:t>(9), 49–63.</a:t>
            </a:r>
          </a:p>
          <a:p>
            <a:pPr marL="457200" indent="-457200"/>
            <a:r>
              <a:rPr lang="en-US" sz="1800" dirty="0" err="1">
                <a:effectLst/>
                <a:latin typeface="Times New Roman" panose="02020603050405020304" pitchFamily="18" charset="0"/>
              </a:rPr>
              <a:t>Wongkiew</a:t>
            </a:r>
            <a:r>
              <a:rPr lang="en-US" sz="1800" dirty="0">
                <a:effectLst/>
                <a:latin typeface="Times New Roman" panose="02020603050405020304" pitchFamily="18" charset="0"/>
              </a:rPr>
              <a:t>, S., Hu, Z., Chandran, K., Lee, J. W., &amp; </a:t>
            </a:r>
            <a:r>
              <a:rPr lang="en-US" sz="1800" dirty="0" err="1">
                <a:effectLst/>
                <a:latin typeface="Times New Roman" panose="02020603050405020304" pitchFamily="18" charset="0"/>
              </a:rPr>
              <a:t>Khanal</a:t>
            </a:r>
            <a:r>
              <a:rPr lang="en-US" sz="1800" dirty="0">
                <a:effectLst/>
                <a:latin typeface="Times New Roman" panose="02020603050405020304" pitchFamily="18" charset="0"/>
              </a:rPr>
              <a:t>, S. K. (2017). Nitrogen transformations in aquaponic systems: A review. </a:t>
            </a:r>
            <a:r>
              <a:rPr lang="en-US" sz="1800" i="1" dirty="0">
                <a:effectLst/>
                <a:latin typeface="Times New Roman" panose="02020603050405020304" pitchFamily="18" charset="0"/>
              </a:rPr>
              <a:t>Aquacultural Engineering</a:t>
            </a:r>
            <a:r>
              <a:rPr lang="en-US" sz="1800" dirty="0">
                <a:effectLst/>
                <a:latin typeface="Times New Roman" panose="02020603050405020304" pitchFamily="18" charset="0"/>
              </a:rPr>
              <a:t>, </a:t>
            </a:r>
            <a:r>
              <a:rPr lang="en-US" sz="1800" i="1" dirty="0">
                <a:effectLst/>
                <a:latin typeface="Times New Roman" panose="02020603050405020304" pitchFamily="18" charset="0"/>
              </a:rPr>
              <a:t>76</a:t>
            </a:r>
            <a:r>
              <a:rPr lang="en-US" sz="1800" dirty="0">
                <a:effectLst/>
                <a:latin typeface="Times New Roman" panose="02020603050405020304" pitchFamily="18" charset="0"/>
              </a:rPr>
              <a:t>, 9–19. https://doi.org/10.1016/j.aquaeng.2017.01.004</a:t>
            </a:r>
          </a:p>
          <a:p>
            <a:pPr marL="457200" indent="-457200"/>
            <a:r>
              <a:rPr lang="en-US" sz="1800" dirty="0" err="1">
                <a:effectLst/>
                <a:latin typeface="Times New Roman" panose="02020603050405020304" pitchFamily="18" charset="0"/>
              </a:rPr>
              <a:t>Yogev</a:t>
            </a:r>
            <a:r>
              <a:rPr lang="en-US" sz="1800" dirty="0">
                <a:effectLst/>
                <a:latin typeface="Times New Roman" panose="02020603050405020304" pitchFamily="18" charset="0"/>
              </a:rPr>
              <a:t>, U., Barnes, A., &amp; Gross, A. (2016). Nutrients and Energy Balance Analysis for a Conceptual Model of a Three Loops off Grid, Aquaponics. </a:t>
            </a:r>
            <a:r>
              <a:rPr lang="en-US" sz="1800" i="1" dirty="0">
                <a:effectLst/>
                <a:latin typeface="Times New Roman" panose="02020603050405020304" pitchFamily="18" charset="0"/>
              </a:rPr>
              <a:t>Water</a:t>
            </a:r>
            <a:r>
              <a:rPr lang="en-US" sz="1800" dirty="0">
                <a:effectLst/>
                <a:latin typeface="Times New Roman" panose="02020603050405020304" pitchFamily="18" charset="0"/>
              </a:rPr>
              <a:t>, </a:t>
            </a:r>
            <a:r>
              <a:rPr lang="en-US" sz="1800" i="1" dirty="0">
                <a:effectLst/>
                <a:latin typeface="Times New Roman" panose="02020603050405020304" pitchFamily="18" charset="0"/>
              </a:rPr>
              <a:t>8</a:t>
            </a:r>
            <a:r>
              <a:rPr lang="en-US" sz="1800" dirty="0">
                <a:effectLst/>
                <a:latin typeface="Times New Roman" panose="02020603050405020304" pitchFamily="18" charset="0"/>
              </a:rPr>
              <a:t>(12), 589. </a:t>
            </a:r>
            <a:r>
              <a:rPr lang="en-US" sz="1800" dirty="0">
                <a:effectLst/>
                <a:latin typeface="Times New Roman" panose="02020603050405020304" pitchFamily="18" charset="0"/>
                <a:hlinkClick r:id="rId10"/>
              </a:rPr>
              <a:t>https://doi.org/10.3390/w8120589</a:t>
            </a:r>
            <a:endParaRPr lang="en-US" sz="1800" dirty="0">
              <a:effectLst/>
              <a:latin typeface="Times New Roman" panose="02020603050405020304" pitchFamily="18" charset="0"/>
            </a:endParaRPr>
          </a:p>
          <a:p>
            <a:pPr marL="457200" indent="-457200"/>
            <a:r>
              <a:rPr lang="en-US" dirty="0">
                <a:latin typeface="Times New Roman" panose="02020603050405020304" pitchFamily="18" charset="0"/>
              </a:rPr>
              <a:t>Images: </a:t>
            </a:r>
          </a:p>
          <a:p>
            <a:pPr marL="457200" indent="-457200"/>
            <a:r>
              <a:rPr lang="en-US" sz="1800" i="1" dirty="0">
                <a:effectLst/>
                <a:latin typeface="Times New Roman" panose="02020603050405020304" pitchFamily="18" charset="0"/>
              </a:rPr>
              <a:t>Blue Tilapia, </a:t>
            </a:r>
            <a:r>
              <a:rPr lang="en-US" sz="1800" dirty="0">
                <a:effectLst/>
                <a:latin typeface="Times New Roman" panose="02020603050405020304" pitchFamily="18" charset="0"/>
              </a:rPr>
              <a:t>2023. </a:t>
            </a:r>
            <a:r>
              <a:rPr lang="en-US" sz="1800" dirty="0" err="1">
                <a:effectLst/>
                <a:latin typeface="Times New Roman" panose="02020603050405020304" pitchFamily="18" charset="0"/>
              </a:rPr>
              <a:t>Bingcom</a:t>
            </a:r>
            <a:r>
              <a:rPr lang="en-US" sz="1800" dirty="0">
                <a:effectLst/>
                <a:latin typeface="Times New Roman" panose="02020603050405020304" pitchFamily="18" charset="0"/>
              </a:rPr>
              <a:t>. [accessed 2023 Apr 27]. https://th.bing.com/th/id/OIP.qRP_H7SE8caSFVX-y9V6JQHaE7?pid=ImgDet&amp;rs=1.</a:t>
            </a:r>
            <a:endParaRPr lang="en-US" dirty="0">
              <a:latin typeface="Times New Roman" panose="02020603050405020304" pitchFamily="18" charset="0"/>
            </a:endParaRPr>
          </a:p>
          <a:p>
            <a:pPr marL="457200" indent="-457200"/>
            <a:r>
              <a:rPr lang="en-US" sz="1800" i="1" dirty="0">
                <a:effectLst/>
                <a:latin typeface="Times New Roman" panose="02020603050405020304" pitchFamily="18" charset="0"/>
              </a:rPr>
              <a:t>The </a:t>
            </a:r>
            <a:r>
              <a:rPr lang="en-US" sz="1800" i="1" dirty="0" err="1">
                <a:effectLst/>
                <a:latin typeface="Times New Roman" panose="02020603050405020304" pitchFamily="18" charset="0"/>
              </a:rPr>
              <a:t>Krafty</a:t>
            </a:r>
            <a:r>
              <a:rPr lang="en-US" sz="1800" i="1" dirty="0">
                <a:effectLst/>
                <a:latin typeface="Times New Roman" panose="02020603050405020304" pitchFamily="18" charset="0"/>
              </a:rPr>
              <a:t> Method of Hydroponics</a:t>
            </a:r>
            <a:r>
              <a:rPr lang="en-US" sz="1800" dirty="0">
                <a:effectLst/>
                <a:latin typeface="Times New Roman" panose="02020603050405020304" pitchFamily="18" charset="0"/>
              </a:rPr>
              <a:t>. (n.d.). https://uponics.com/wp-content/uploads/2018/02/Kratky-Method-600x504.jpg</a:t>
            </a:r>
          </a:p>
          <a:p>
            <a:pPr marL="457200" indent="-457200"/>
            <a:endParaRPr lang="en-US" sz="1800" dirty="0">
              <a:effectLst/>
              <a:latin typeface="Times New Roman" panose="02020603050405020304" pitchFamily="18" charset="0"/>
            </a:endParaRPr>
          </a:p>
        </p:txBody>
      </p:sp>
      <p:sp>
        <p:nvSpPr>
          <p:cNvPr id="33" name="TextBox 32">
            <a:extLst>
              <a:ext uri="{FF2B5EF4-FFF2-40B4-BE49-F238E27FC236}">
                <a16:creationId xmlns:a16="http://schemas.microsoft.com/office/drawing/2014/main" id="{743973B5-C825-E77C-55AF-93F69A115235}"/>
              </a:ext>
            </a:extLst>
          </p:cNvPr>
          <p:cNvSpPr txBox="1"/>
          <p:nvPr/>
        </p:nvSpPr>
        <p:spPr>
          <a:xfrm>
            <a:off x="22458982" y="30799400"/>
            <a:ext cx="3070200" cy="646331"/>
          </a:xfrm>
          <a:prstGeom prst="rect">
            <a:avLst/>
          </a:prstGeom>
          <a:noFill/>
        </p:spPr>
        <p:txBody>
          <a:bodyPr wrap="square">
            <a:spAutoFit/>
          </a:bodyPr>
          <a:lstStyle/>
          <a:p>
            <a:r>
              <a:rPr lang="en-US" sz="3600" b="1" dirty="0"/>
              <a:t>After</a:t>
            </a:r>
            <a:r>
              <a:rPr lang="en-US" sz="3600" b="1" i="1" dirty="0"/>
              <a:t> L </a:t>
            </a:r>
            <a:r>
              <a:rPr lang="en-US" sz="3600" b="1" dirty="0"/>
              <a:t>Times</a:t>
            </a:r>
            <a:endParaRPr lang="en-US" sz="3600" dirty="0"/>
          </a:p>
        </p:txBody>
      </p:sp>
      <p:pic>
        <p:nvPicPr>
          <p:cNvPr id="47" name="Picture 46">
            <a:extLst>
              <a:ext uri="{FF2B5EF4-FFF2-40B4-BE49-F238E27FC236}">
                <a16:creationId xmlns:a16="http://schemas.microsoft.com/office/drawing/2014/main" id="{95943F87-FC8F-1115-9BC2-D0A51EE2EFBA}"/>
              </a:ext>
            </a:extLst>
          </p:cNvPr>
          <p:cNvPicPr>
            <a:picLocks noChangeAspect="1"/>
          </p:cNvPicPr>
          <p:nvPr/>
        </p:nvPicPr>
        <p:blipFill>
          <a:blip r:embed="rId11"/>
          <a:stretch>
            <a:fillRect/>
          </a:stretch>
        </p:blipFill>
        <p:spPr>
          <a:xfrm>
            <a:off x="37385146" y="6032378"/>
            <a:ext cx="4227927" cy="3584918"/>
          </a:xfrm>
          <a:prstGeom prst="rect">
            <a:avLst/>
          </a:prstGeom>
        </p:spPr>
      </p:pic>
      <p:pic>
        <p:nvPicPr>
          <p:cNvPr id="62" name="Picture 61">
            <a:extLst>
              <a:ext uri="{FF2B5EF4-FFF2-40B4-BE49-F238E27FC236}">
                <a16:creationId xmlns:a16="http://schemas.microsoft.com/office/drawing/2014/main" id="{48EE5838-2D50-5802-F5E8-DB5B748D4A5D}"/>
              </a:ext>
            </a:extLst>
          </p:cNvPr>
          <p:cNvPicPr>
            <a:picLocks noChangeAspect="1"/>
          </p:cNvPicPr>
          <p:nvPr/>
        </p:nvPicPr>
        <p:blipFill>
          <a:blip r:embed="rId12"/>
          <a:stretch>
            <a:fillRect/>
          </a:stretch>
        </p:blipFill>
        <p:spPr>
          <a:xfrm>
            <a:off x="30841307" y="15613252"/>
            <a:ext cx="4430897" cy="3757019"/>
          </a:xfrm>
          <a:prstGeom prst="rect">
            <a:avLst/>
          </a:prstGeom>
        </p:spPr>
      </p:pic>
      <p:pic>
        <p:nvPicPr>
          <p:cNvPr id="74" name="Picture 73">
            <a:extLst>
              <a:ext uri="{FF2B5EF4-FFF2-40B4-BE49-F238E27FC236}">
                <a16:creationId xmlns:a16="http://schemas.microsoft.com/office/drawing/2014/main" id="{99B16F9A-45C4-A502-0313-916106361EA1}"/>
              </a:ext>
            </a:extLst>
          </p:cNvPr>
          <p:cNvPicPr>
            <a:picLocks noChangeAspect="1"/>
          </p:cNvPicPr>
          <p:nvPr/>
        </p:nvPicPr>
        <p:blipFill>
          <a:blip r:embed="rId13"/>
          <a:stretch>
            <a:fillRect/>
          </a:stretch>
        </p:blipFill>
        <p:spPr>
          <a:xfrm>
            <a:off x="30942793" y="6037979"/>
            <a:ext cx="4227927" cy="3584918"/>
          </a:xfrm>
          <a:prstGeom prst="rect">
            <a:avLst/>
          </a:prstGeom>
        </p:spPr>
      </p:pic>
      <p:sp>
        <p:nvSpPr>
          <p:cNvPr id="77" name="TextBox 76">
            <a:extLst>
              <a:ext uri="{FF2B5EF4-FFF2-40B4-BE49-F238E27FC236}">
                <a16:creationId xmlns:a16="http://schemas.microsoft.com/office/drawing/2014/main" id="{3EACB16C-DDC1-30A4-2124-0232E88F7A60}"/>
              </a:ext>
            </a:extLst>
          </p:cNvPr>
          <p:cNvSpPr txBox="1"/>
          <p:nvPr/>
        </p:nvSpPr>
        <p:spPr>
          <a:xfrm>
            <a:off x="29935429" y="22032187"/>
            <a:ext cx="12956541"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With </a:t>
            </a:r>
            <a:r>
              <a:rPr lang="en-US" sz="2800" b="1" i="1" dirty="0">
                <a:latin typeface="Times New Roman" panose="02020603050405020304" pitchFamily="18" charset="0"/>
                <a:cs typeface="Times New Roman" panose="02020603050405020304" pitchFamily="18" charset="0"/>
              </a:rPr>
              <a:t>R</a:t>
            </a:r>
            <a:r>
              <a:rPr lang="en-US" sz="2800" dirty="0">
                <a:latin typeface="Times New Roman" panose="02020603050405020304" pitchFamily="18" charset="0"/>
                <a:cs typeface="Times New Roman" panose="02020603050405020304" pitchFamily="18" charset="0"/>
              </a:rPr>
              <a:t> adjustment, the projections follow well to the model predictions for nitrate in the fish aquarium (especially for 40%).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overshooting of the 25% model for the aquarium is consistent with the over-projection of </a:t>
            </a:r>
            <a:r>
              <a:rPr lang="en-US" sz="2800" b="1" i="1" kern="100" dirty="0">
                <a:effectLst/>
                <a:latin typeface="Times New Roman" panose="02020603050405020304" pitchFamily="18" charset="0"/>
                <a:ea typeface="Calibri" panose="020F0502020204030204" pitchFamily="34" charset="0"/>
                <a:cs typeface="Times New Roman" panose="02020603050405020304" pitchFamily="18" charset="0"/>
              </a:rPr>
              <a:t>W(</a:t>
            </a:r>
            <a:r>
              <a:rPr lang="en-US" sz="2800" b="1" i="1" kern="100" dirty="0" err="1">
                <a:effectLst/>
                <a:latin typeface="Times New Roman" panose="02020603050405020304" pitchFamily="18" charset="0"/>
                <a:ea typeface="Calibri" panose="020F0502020204030204" pitchFamily="34" charset="0"/>
                <a:cs typeface="Times New Roman" panose="02020603050405020304" pitchFamily="18" charset="0"/>
              </a:rPr>
              <a:t>t,P</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for 25%.</a:t>
            </a:r>
          </a:p>
          <a:p>
            <a:pPr marL="457200" indent="-457200">
              <a:buFont typeface="Arial" panose="020B0604020202020204" pitchFamily="34" charset="0"/>
              <a:buChar char="•"/>
            </a:pPr>
            <a:r>
              <a:rPr lang="en-US" sz="2800" kern="100" dirty="0">
                <a:latin typeface="Times New Roman" panose="02020603050405020304" pitchFamily="18" charset="0"/>
                <a:ea typeface="Calibri" panose="020F0502020204030204" pitchFamily="34" charset="0"/>
                <a:cs typeface="Times New Roman" panose="02020603050405020304" pitchFamily="18" charset="0"/>
              </a:rPr>
              <a:t>Kale uptake rates are overestimated, which is also consistent with the conditions of our current kale in comparison to sample data.</a:t>
            </a:r>
          </a:p>
          <a:p>
            <a:pPr marL="457200" indent="-457200">
              <a:buFont typeface="Arial" panose="020B0604020202020204" pitchFamily="34" charset="0"/>
              <a:buChar char="•"/>
            </a:pPr>
            <a:r>
              <a:rPr lang="en-US" sz="2800" kern="100" dirty="0">
                <a:latin typeface="Times New Roman" panose="02020603050405020304" pitchFamily="18" charset="0"/>
                <a:ea typeface="Calibri" panose="020F0502020204030204" pitchFamily="34" charset="0"/>
                <a:cs typeface="Times New Roman" panose="02020603050405020304" pitchFamily="18" charset="0"/>
              </a:rPr>
              <a:t>Future research will focus on continuing our ongoing collection of experimental data, as well as fine-tuning the already known discrepancies of the model.</a:t>
            </a:r>
            <a:endParaRPr lang="en-US" sz="2800" dirty="0">
              <a:latin typeface="Times New Roman" panose="02020603050405020304" pitchFamily="18" charset="0"/>
              <a:cs typeface="Times New Roman" panose="02020603050405020304" pitchFamily="18" charset="0"/>
            </a:endParaRPr>
          </a:p>
        </p:txBody>
      </p:sp>
      <p:sp>
        <p:nvSpPr>
          <p:cNvPr id="82" name="TextBox 81">
            <a:extLst>
              <a:ext uri="{FF2B5EF4-FFF2-40B4-BE49-F238E27FC236}">
                <a16:creationId xmlns:a16="http://schemas.microsoft.com/office/drawing/2014/main" id="{4724DF6A-5D9E-0BCF-74BA-73889B8D5769}"/>
              </a:ext>
            </a:extLst>
          </p:cNvPr>
          <p:cNvSpPr txBox="1"/>
          <p:nvPr/>
        </p:nvSpPr>
        <p:spPr>
          <a:xfrm>
            <a:off x="15494644" y="24135910"/>
            <a:ext cx="5922558" cy="1754326"/>
          </a:xfrm>
          <a:prstGeom prst="rect">
            <a:avLst/>
          </a:prstGeom>
          <a:noFill/>
        </p:spPr>
        <p:txBody>
          <a:bodyPr wrap="square">
            <a:spAutoFit/>
          </a:bodyPr>
          <a:lstStyle/>
          <a:p>
            <a:pPr algn="ctr" rtl="0">
              <a:spcBef>
                <a:spcPts val="3000"/>
              </a:spcBef>
              <a:spcAft>
                <a:spcPts val="0"/>
              </a:spcAft>
            </a:pPr>
            <a:r>
              <a:rPr lang="en-US" sz="1800" b="0" i="1" u="none" strike="noStrike" dirty="0">
                <a:effectLst/>
                <a:latin typeface="Arial" panose="020B0604020202020204" pitchFamily="34" charset="0"/>
              </a:rPr>
              <a:t>Figure 1: Linearly interpolated MATLAB fit used for predicting fish weight (grams) based on protein percentage fed. Data for the model fit was collected from our Spring 2023 experiment and </a:t>
            </a:r>
            <a:r>
              <a:rPr lang="en-US" sz="1800" b="0" i="1" u="none" strike="noStrike" dirty="0" err="1">
                <a:effectLst/>
                <a:latin typeface="Arial" panose="020B0604020202020204" pitchFamily="34" charset="0"/>
              </a:rPr>
              <a:t>Hafedh</a:t>
            </a:r>
            <a:r>
              <a:rPr lang="en-US" sz="1800" b="0" i="1" u="none" strike="noStrike" dirty="0">
                <a:effectLst/>
                <a:latin typeface="Arial" panose="020B0604020202020204" pitchFamily="34" charset="0"/>
              </a:rPr>
              <a:t>, Y. S. A,1999.</a:t>
            </a:r>
            <a:endParaRPr lang="en-US" b="0" dirty="0">
              <a:effectLst/>
            </a:endParaRPr>
          </a:p>
          <a:p>
            <a:br>
              <a:rPr lang="en-US" dirty="0"/>
            </a:br>
            <a:endParaRPr lang="en-US" dirty="0"/>
          </a:p>
        </p:txBody>
      </p:sp>
      <p:sp>
        <p:nvSpPr>
          <p:cNvPr id="89" name="TextBox 88">
            <a:extLst>
              <a:ext uri="{FF2B5EF4-FFF2-40B4-BE49-F238E27FC236}">
                <a16:creationId xmlns:a16="http://schemas.microsoft.com/office/drawing/2014/main" id="{7B81B4F4-0D5C-03F4-F4F4-43C3A30A9190}"/>
              </a:ext>
            </a:extLst>
          </p:cNvPr>
          <p:cNvSpPr txBox="1"/>
          <p:nvPr/>
        </p:nvSpPr>
        <p:spPr>
          <a:xfrm>
            <a:off x="22677342" y="24144352"/>
            <a:ext cx="6028519" cy="2031325"/>
          </a:xfrm>
          <a:prstGeom prst="rect">
            <a:avLst/>
          </a:prstGeom>
          <a:noFill/>
        </p:spPr>
        <p:txBody>
          <a:bodyPr wrap="square">
            <a:spAutoFit/>
          </a:bodyPr>
          <a:lstStyle/>
          <a:p>
            <a:pPr algn="ctr" rtl="0">
              <a:spcBef>
                <a:spcPts val="3000"/>
              </a:spcBef>
              <a:spcAft>
                <a:spcPts val="0"/>
              </a:spcAft>
            </a:pPr>
            <a:r>
              <a:rPr lang="en-US" sz="1800" b="0" i="1" u="none" strike="noStrike" dirty="0">
                <a:effectLst/>
                <a:latin typeface="Arial" panose="020B0604020202020204" pitchFamily="34" charset="0"/>
              </a:rPr>
              <a:t>Figure 2: Polynomial regression MATLAB fit used for predicting kale uptake rate (ppm/day) based on determined age. Data for the model fit was collected from our Summer 2023 experiment.</a:t>
            </a:r>
            <a:endParaRPr lang="en-US" b="0" dirty="0">
              <a:effectLst/>
            </a:endParaRPr>
          </a:p>
          <a:p>
            <a:br>
              <a:rPr lang="en-US" dirty="0"/>
            </a:br>
            <a:br>
              <a:rPr lang="en-US" dirty="0"/>
            </a:br>
            <a:endParaRPr lang="en-US" dirty="0"/>
          </a:p>
        </p:txBody>
      </p:sp>
      <p:sp>
        <p:nvSpPr>
          <p:cNvPr id="96" name="TextBox 95">
            <a:extLst>
              <a:ext uri="{FF2B5EF4-FFF2-40B4-BE49-F238E27FC236}">
                <a16:creationId xmlns:a16="http://schemas.microsoft.com/office/drawing/2014/main" id="{24529DC2-495A-FC46-9469-442B48CF202A}"/>
              </a:ext>
            </a:extLst>
          </p:cNvPr>
          <p:cNvSpPr txBox="1"/>
          <p:nvPr/>
        </p:nvSpPr>
        <p:spPr>
          <a:xfrm>
            <a:off x="29979244" y="4965917"/>
            <a:ext cx="13249592" cy="954107"/>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a:t>
            </a:r>
            <a:r>
              <a:rPr lang="en-US" sz="2800" b="1" dirty="0">
                <a:solidFill>
                  <a:srgbClr val="0070C0"/>
                </a:solidFill>
                <a:latin typeface="Times New Roman" panose="02020603050405020304" pitchFamily="18" charset="0"/>
                <a:cs typeface="Times New Roman" panose="02020603050405020304" pitchFamily="18" charset="0"/>
              </a:rPr>
              <a:t>BLUE</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line is the model prediction. The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are scatter plot data of experimental data. The </a:t>
            </a:r>
            <a:r>
              <a:rPr lang="en-US" sz="2800" b="1" dirty="0">
                <a:solidFill>
                  <a:srgbClr val="7030A0"/>
                </a:solidFill>
                <a:latin typeface="Times New Roman" panose="02020603050405020304" pitchFamily="18" charset="0"/>
                <a:cs typeface="Times New Roman" panose="02020603050405020304" pitchFamily="18" charset="0"/>
              </a:rPr>
              <a:t>PURPLE</a:t>
            </a:r>
            <a:r>
              <a:rPr lang="en-US" sz="2800" dirty="0">
                <a:latin typeface="Times New Roman" panose="02020603050405020304" pitchFamily="18" charset="0"/>
                <a:cs typeface="Times New Roman" panose="02020603050405020304" pitchFamily="18" charset="0"/>
              </a:rPr>
              <a:t> line is the mean plotting of the experimental data.</a:t>
            </a:r>
          </a:p>
        </p:txBody>
      </p:sp>
      <p:sp>
        <p:nvSpPr>
          <p:cNvPr id="98" name="TextBox 97">
            <a:extLst>
              <a:ext uri="{FF2B5EF4-FFF2-40B4-BE49-F238E27FC236}">
                <a16:creationId xmlns:a16="http://schemas.microsoft.com/office/drawing/2014/main" id="{3532FB6B-CFCE-6B37-FA5C-1E2B90AA08F2}"/>
              </a:ext>
            </a:extLst>
          </p:cNvPr>
          <p:cNvSpPr txBox="1"/>
          <p:nvPr/>
        </p:nvSpPr>
        <p:spPr>
          <a:xfrm>
            <a:off x="30009982" y="9589527"/>
            <a:ext cx="5999465" cy="1477328"/>
          </a:xfrm>
          <a:prstGeom prst="rect">
            <a:avLst/>
          </a:prstGeom>
          <a:noFill/>
        </p:spPr>
        <p:txBody>
          <a:bodyPr wrap="square">
            <a:spAutoFit/>
          </a:bodyPr>
          <a:lstStyle/>
          <a:p>
            <a:pPr algn="ctr" rtl="0">
              <a:spcBef>
                <a:spcPts val="3000"/>
              </a:spcBef>
              <a:spcAft>
                <a:spcPts val="0"/>
              </a:spcAft>
            </a:pPr>
            <a:r>
              <a:rPr lang="en-US" sz="1800" b="0" i="1" u="none" strike="noStrike" dirty="0">
                <a:effectLst/>
                <a:latin typeface="Arial" panose="020B0604020202020204" pitchFamily="34" charset="0"/>
              </a:rPr>
              <a:t>Figure 3: Model-predicted, individual tilapia weights (grams) versus experimentally collected weights for 25% diet (n=3).</a:t>
            </a:r>
            <a:endParaRPr lang="en-US" b="0" dirty="0">
              <a:effectLst/>
            </a:endParaRPr>
          </a:p>
          <a:p>
            <a:br>
              <a:rPr lang="en-US" dirty="0"/>
            </a:br>
            <a:endParaRPr lang="en-US" dirty="0"/>
          </a:p>
        </p:txBody>
      </p:sp>
      <p:sp>
        <p:nvSpPr>
          <p:cNvPr id="99" name="TextBox 98">
            <a:extLst>
              <a:ext uri="{FF2B5EF4-FFF2-40B4-BE49-F238E27FC236}">
                <a16:creationId xmlns:a16="http://schemas.microsoft.com/office/drawing/2014/main" id="{63CE7F0E-75FD-ACB1-2E50-A712B0222115}"/>
              </a:ext>
            </a:extLst>
          </p:cNvPr>
          <p:cNvSpPr txBox="1"/>
          <p:nvPr/>
        </p:nvSpPr>
        <p:spPr>
          <a:xfrm>
            <a:off x="36690114" y="9599971"/>
            <a:ext cx="5999465" cy="1754326"/>
          </a:xfrm>
          <a:prstGeom prst="rect">
            <a:avLst/>
          </a:prstGeom>
          <a:noFill/>
        </p:spPr>
        <p:txBody>
          <a:bodyPr wrap="square">
            <a:spAutoFit/>
          </a:bodyPr>
          <a:lstStyle/>
          <a:p>
            <a:pPr algn="ctr" rtl="0">
              <a:spcBef>
                <a:spcPts val="3000"/>
              </a:spcBef>
              <a:spcAft>
                <a:spcPts val="0"/>
              </a:spcAft>
            </a:pPr>
            <a:r>
              <a:rPr lang="en-US" sz="1800" b="0" i="1" u="none" strike="noStrike" dirty="0">
                <a:effectLst/>
                <a:latin typeface="Arial" panose="020B0604020202020204" pitchFamily="34" charset="0"/>
              </a:rPr>
              <a:t>Figure 4: Model-predicted, individual tilapia weights (grams) versus experimentally collected weights for 40% diet (n=3).</a:t>
            </a:r>
            <a:endParaRPr lang="en-US" b="0" dirty="0">
              <a:effectLst/>
            </a:endParaRPr>
          </a:p>
          <a:p>
            <a:br>
              <a:rPr lang="en-US" dirty="0"/>
            </a:br>
            <a:br>
              <a:rPr lang="en-US" dirty="0"/>
            </a:br>
            <a:endParaRPr lang="en-US" dirty="0"/>
          </a:p>
        </p:txBody>
      </p:sp>
      <p:sp>
        <p:nvSpPr>
          <p:cNvPr id="100" name="TextBox 99">
            <a:extLst>
              <a:ext uri="{FF2B5EF4-FFF2-40B4-BE49-F238E27FC236}">
                <a16:creationId xmlns:a16="http://schemas.microsoft.com/office/drawing/2014/main" id="{467C58A2-433E-0A74-D8EA-42F755996C85}"/>
              </a:ext>
            </a:extLst>
          </p:cNvPr>
          <p:cNvSpPr txBox="1"/>
          <p:nvPr/>
        </p:nvSpPr>
        <p:spPr>
          <a:xfrm>
            <a:off x="30082858" y="14269505"/>
            <a:ext cx="5999465" cy="2031325"/>
          </a:xfrm>
          <a:prstGeom prst="rect">
            <a:avLst/>
          </a:prstGeom>
          <a:noFill/>
        </p:spPr>
        <p:txBody>
          <a:bodyPr wrap="square">
            <a:spAutoFit/>
          </a:bodyPr>
          <a:lstStyle/>
          <a:p>
            <a:pPr algn="ctr" rtl="0">
              <a:spcBef>
                <a:spcPts val="3000"/>
              </a:spcBef>
              <a:spcAft>
                <a:spcPts val="0"/>
              </a:spcAft>
            </a:pPr>
            <a:r>
              <a:rPr lang="en-US" sz="1800" b="0" i="1" u="none" strike="noStrike" dirty="0">
                <a:effectLst/>
                <a:latin typeface="Arial" panose="020B0604020202020204" pitchFamily="34" charset="0"/>
              </a:rPr>
              <a:t>Figure 5: Model-predicted, individual fish aquarium nitrate concentrations (ppm) versus experimentally collected concentrations for 25% diet where “</a:t>
            </a:r>
            <a:r>
              <a:rPr lang="en-US" sz="1800" b="1" i="1" u="none" strike="noStrike" dirty="0">
                <a:solidFill>
                  <a:srgbClr val="ED8513"/>
                </a:solidFill>
                <a:effectLst/>
                <a:latin typeface="Arial" panose="020B0604020202020204" pitchFamily="34" charset="0"/>
              </a:rPr>
              <a:t>*</a:t>
            </a:r>
            <a:r>
              <a:rPr lang="en-US" sz="1800" b="0" i="1" u="none" strike="noStrike" dirty="0">
                <a:effectLst/>
                <a:latin typeface="Arial" panose="020B0604020202020204" pitchFamily="34" charset="0"/>
              </a:rPr>
              <a:t>” is before dilution and  “</a:t>
            </a:r>
            <a:r>
              <a:rPr lang="en-US" sz="1800" b="1" i="1" u="none" strike="noStrike" dirty="0">
                <a:effectLst/>
                <a:latin typeface="Arial" panose="020B0604020202020204" pitchFamily="34" charset="0"/>
              </a:rPr>
              <a:t>*</a:t>
            </a:r>
            <a:r>
              <a:rPr lang="en-US" sz="1800" b="0" i="1" u="none" strike="noStrike" dirty="0">
                <a:effectLst/>
                <a:latin typeface="Arial" panose="020B0604020202020204" pitchFamily="34" charset="0"/>
              </a:rPr>
              <a:t>”  is after (n=3).</a:t>
            </a:r>
            <a:endParaRPr lang="en-US" b="0" dirty="0">
              <a:effectLst/>
            </a:endParaRPr>
          </a:p>
          <a:p>
            <a:br>
              <a:rPr lang="en-US" dirty="0"/>
            </a:br>
            <a:br>
              <a:rPr lang="en-US" dirty="0"/>
            </a:br>
            <a:endParaRPr lang="en-US" dirty="0"/>
          </a:p>
        </p:txBody>
      </p:sp>
      <p:sp>
        <p:nvSpPr>
          <p:cNvPr id="101" name="TextBox 100">
            <a:extLst>
              <a:ext uri="{FF2B5EF4-FFF2-40B4-BE49-F238E27FC236}">
                <a16:creationId xmlns:a16="http://schemas.microsoft.com/office/drawing/2014/main" id="{B2260C34-9758-EC3F-AD1A-3626987C70B2}"/>
              </a:ext>
            </a:extLst>
          </p:cNvPr>
          <p:cNvSpPr txBox="1"/>
          <p:nvPr/>
        </p:nvSpPr>
        <p:spPr>
          <a:xfrm>
            <a:off x="36517523" y="14217883"/>
            <a:ext cx="5999465" cy="2031325"/>
          </a:xfrm>
          <a:prstGeom prst="rect">
            <a:avLst/>
          </a:prstGeom>
          <a:noFill/>
        </p:spPr>
        <p:txBody>
          <a:bodyPr wrap="square">
            <a:spAutoFit/>
          </a:bodyPr>
          <a:lstStyle/>
          <a:p>
            <a:pPr algn="ctr" rtl="0">
              <a:spcBef>
                <a:spcPts val="3000"/>
              </a:spcBef>
              <a:spcAft>
                <a:spcPts val="0"/>
              </a:spcAft>
            </a:pPr>
            <a:r>
              <a:rPr lang="en-US" sz="1800" b="0" i="1" u="none" strike="noStrike" dirty="0">
                <a:effectLst/>
                <a:latin typeface="Arial" panose="020B0604020202020204" pitchFamily="34" charset="0"/>
              </a:rPr>
              <a:t>Figure 6: Model-predicted, individual fish aquarium nitrate concentrations (ppm) versus experimentally collected concentrations for 40% diet where “</a:t>
            </a:r>
            <a:r>
              <a:rPr lang="en-US" sz="1800" b="1" i="1" u="none" strike="noStrike" dirty="0">
                <a:solidFill>
                  <a:srgbClr val="ED8513"/>
                </a:solidFill>
                <a:effectLst/>
                <a:latin typeface="Arial" panose="020B0604020202020204" pitchFamily="34" charset="0"/>
              </a:rPr>
              <a:t>*</a:t>
            </a:r>
            <a:r>
              <a:rPr lang="en-US" sz="1800" b="0" i="1" u="none" strike="noStrike" dirty="0">
                <a:effectLst/>
                <a:latin typeface="Arial" panose="020B0604020202020204" pitchFamily="34" charset="0"/>
              </a:rPr>
              <a:t>” is before dilution and  “</a:t>
            </a:r>
            <a:r>
              <a:rPr lang="en-US" sz="1800" b="1" i="1" u="none" strike="noStrike" dirty="0">
                <a:effectLst/>
                <a:latin typeface="Arial" panose="020B0604020202020204" pitchFamily="34" charset="0"/>
              </a:rPr>
              <a:t>*</a:t>
            </a:r>
            <a:r>
              <a:rPr lang="en-US" sz="1800" b="0" i="1" u="none" strike="noStrike" dirty="0">
                <a:effectLst/>
                <a:latin typeface="Arial" panose="020B0604020202020204" pitchFamily="34" charset="0"/>
              </a:rPr>
              <a:t>”  is after (n=3).</a:t>
            </a:r>
            <a:endParaRPr lang="en-US" b="0" dirty="0">
              <a:effectLst/>
            </a:endParaRPr>
          </a:p>
          <a:p>
            <a:br>
              <a:rPr lang="en-US" dirty="0"/>
            </a:br>
            <a:br>
              <a:rPr lang="en-US" dirty="0"/>
            </a:br>
            <a:endParaRPr lang="en-US" dirty="0"/>
          </a:p>
        </p:txBody>
      </p:sp>
      <p:sp>
        <p:nvSpPr>
          <p:cNvPr id="102" name="TextBox 101">
            <a:extLst>
              <a:ext uri="{FF2B5EF4-FFF2-40B4-BE49-F238E27FC236}">
                <a16:creationId xmlns:a16="http://schemas.microsoft.com/office/drawing/2014/main" id="{F50E6516-8A2C-A2E9-F233-D08770C76856}"/>
              </a:ext>
            </a:extLst>
          </p:cNvPr>
          <p:cNvSpPr txBox="1"/>
          <p:nvPr/>
        </p:nvSpPr>
        <p:spPr>
          <a:xfrm>
            <a:off x="30082858" y="19390806"/>
            <a:ext cx="5999465" cy="1754326"/>
          </a:xfrm>
          <a:prstGeom prst="rect">
            <a:avLst/>
          </a:prstGeom>
          <a:noFill/>
        </p:spPr>
        <p:txBody>
          <a:bodyPr wrap="square">
            <a:spAutoFit/>
          </a:bodyPr>
          <a:lstStyle/>
          <a:p>
            <a:pPr algn="ctr" rtl="0">
              <a:spcBef>
                <a:spcPts val="3000"/>
              </a:spcBef>
              <a:spcAft>
                <a:spcPts val="0"/>
              </a:spcAft>
            </a:pPr>
            <a:r>
              <a:rPr lang="en-US" sz="1800" b="0" i="1" u="none" strike="noStrike" dirty="0">
                <a:effectLst/>
                <a:latin typeface="Arial" panose="020B0604020202020204" pitchFamily="34" charset="0"/>
              </a:rPr>
              <a:t>Figure 7: Model-predicted, individual kale tub nitrate concentrations (ppm) versus experimentally collected concentrations for 25% diet (n=3).</a:t>
            </a:r>
            <a:endParaRPr lang="en-US" b="0" dirty="0">
              <a:effectLst/>
            </a:endParaRPr>
          </a:p>
          <a:p>
            <a:br>
              <a:rPr lang="en-US" dirty="0"/>
            </a:br>
            <a:br>
              <a:rPr lang="en-US" dirty="0"/>
            </a:br>
            <a:endParaRPr lang="en-US" dirty="0"/>
          </a:p>
        </p:txBody>
      </p:sp>
      <p:sp>
        <p:nvSpPr>
          <p:cNvPr id="103" name="TextBox 102">
            <a:extLst>
              <a:ext uri="{FF2B5EF4-FFF2-40B4-BE49-F238E27FC236}">
                <a16:creationId xmlns:a16="http://schemas.microsoft.com/office/drawing/2014/main" id="{827506AD-E347-0BE5-0AC5-58E3BBA738E6}"/>
              </a:ext>
            </a:extLst>
          </p:cNvPr>
          <p:cNvSpPr txBox="1"/>
          <p:nvPr/>
        </p:nvSpPr>
        <p:spPr>
          <a:xfrm>
            <a:off x="36809981" y="19390806"/>
            <a:ext cx="5999465" cy="1754326"/>
          </a:xfrm>
          <a:prstGeom prst="rect">
            <a:avLst/>
          </a:prstGeom>
          <a:noFill/>
        </p:spPr>
        <p:txBody>
          <a:bodyPr wrap="square">
            <a:spAutoFit/>
          </a:bodyPr>
          <a:lstStyle/>
          <a:p>
            <a:pPr algn="ctr" rtl="0">
              <a:spcBef>
                <a:spcPts val="3000"/>
              </a:spcBef>
              <a:spcAft>
                <a:spcPts val="0"/>
              </a:spcAft>
            </a:pPr>
            <a:r>
              <a:rPr lang="en-US" sz="1800" b="0" i="1" u="none" strike="noStrike" dirty="0">
                <a:effectLst/>
                <a:latin typeface="Arial" panose="020B0604020202020204" pitchFamily="34" charset="0"/>
              </a:rPr>
              <a:t>Figure 8: Model-predicted, individual kale tub nitrate concentrations (ppm) versus experimentally collected concentrations for 40% diet (n=3).</a:t>
            </a:r>
            <a:endParaRPr lang="en-US" b="0" dirty="0">
              <a:effectLst/>
            </a:endParaRPr>
          </a:p>
          <a:p>
            <a:br>
              <a:rPr lang="en-US" dirty="0"/>
            </a:br>
            <a:br>
              <a:rPr lang="en-US" dirty="0"/>
            </a:br>
            <a:endParaRPr lang="en-US" dirty="0"/>
          </a:p>
        </p:txBody>
      </p:sp>
      <p:sp>
        <p:nvSpPr>
          <p:cNvPr id="104" name="TextBox 103">
            <a:extLst>
              <a:ext uri="{FF2B5EF4-FFF2-40B4-BE49-F238E27FC236}">
                <a16:creationId xmlns:a16="http://schemas.microsoft.com/office/drawing/2014/main" id="{55DCCFFD-36EC-5D51-2FF8-AB04E50D6491}"/>
              </a:ext>
            </a:extLst>
          </p:cNvPr>
          <p:cNvSpPr txBox="1"/>
          <p:nvPr/>
        </p:nvSpPr>
        <p:spPr>
          <a:xfrm>
            <a:off x="15494644" y="12935901"/>
            <a:ext cx="12737077" cy="584775"/>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Where these piecewise equations are processed </a:t>
            </a:r>
            <a:r>
              <a:rPr lang="en-US" sz="3200" b="1" dirty="0">
                <a:latin typeface="Times New Roman" panose="02020603050405020304" pitchFamily="18" charset="0"/>
                <a:cs typeface="Times New Roman" panose="02020603050405020304" pitchFamily="18" charset="0"/>
              </a:rPr>
              <a:t>top-down</a:t>
            </a:r>
            <a:r>
              <a:rPr lang="en-US" sz="3200" dirty="0">
                <a:latin typeface="Times New Roman" panose="02020603050405020304" pitchFamily="18" charset="0"/>
                <a:cs typeface="Times New Roman" panose="02020603050405020304" pitchFamily="18" charset="0"/>
              </a:rPr>
              <a:t> computationally.</a:t>
            </a:r>
          </a:p>
        </p:txBody>
      </p:sp>
      <p:sp>
        <p:nvSpPr>
          <p:cNvPr id="13" name="Arrow: Curved Right 12">
            <a:extLst>
              <a:ext uri="{FF2B5EF4-FFF2-40B4-BE49-F238E27FC236}">
                <a16:creationId xmlns:a16="http://schemas.microsoft.com/office/drawing/2014/main" id="{EB447727-8BFD-3D6A-BD01-952D3A635528}"/>
              </a:ext>
            </a:extLst>
          </p:cNvPr>
          <p:cNvSpPr/>
          <p:nvPr/>
        </p:nvSpPr>
        <p:spPr>
          <a:xfrm rot="8633475" flipH="1">
            <a:off x="17625274" y="25453864"/>
            <a:ext cx="2215207" cy="4954981"/>
          </a:xfrm>
          <a:prstGeom prst="curvedRightArrow">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10">
            <a:extLst>
              <a:ext uri="{FF2B5EF4-FFF2-40B4-BE49-F238E27FC236}">
                <a16:creationId xmlns:a16="http://schemas.microsoft.com/office/drawing/2014/main" id="{A7C014FB-C231-3824-C26E-6B490194369C}"/>
              </a:ext>
            </a:extLst>
          </p:cNvPr>
          <p:cNvPicPr>
            <a:picLocks noChangeAspect="1"/>
          </p:cNvPicPr>
          <p:nvPr/>
        </p:nvPicPr>
        <p:blipFill>
          <a:blip r:embed="rId14"/>
          <a:stretch>
            <a:fillRect/>
          </a:stretch>
        </p:blipFill>
        <p:spPr>
          <a:xfrm>
            <a:off x="30794265" y="10551333"/>
            <a:ext cx="4430897" cy="3644210"/>
          </a:xfrm>
          <a:prstGeom prst="rect">
            <a:avLst/>
          </a:prstGeom>
        </p:spPr>
      </p:pic>
      <p:pic>
        <p:nvPicPr>
          <p:cNvPr id="37" name="Picture 36">
            <a:extLst>
              <a:ext uri="{FF2B5EF4-FFF2-40B4-BE49-F238E27FC236}">
                <a16:creationId xmlns:a16="http://schemas.microsoft.com/office/drawing/2014/main" id="{826251B0-9C0D-CF2D-5429-0FCA0E93C0E6}"/>
              </a:ext>
            </a:extLst>
          </p:cNvPr>
          <p:cNvPicPr>
            <a:picLocks noChangeAspect="1"/>
          </p:cNvPicPr>
          <p:nvPr/>
        </p:nvPicPr>
        <p:blipFill>
          <a:blip r:embed="rId15"/>
          <a:stretch>
            <a:fillRect/>
          </a:stretch>
        </p:blipFill>
        <p:spPr>
          <a:xfrm>
            <a:off x="37283660" y="10551333"/>
            <a:ext cx="4430897" cy="3644211"/>
          </a:xfrm>
          <a:prstGeom prst="rect">
            <a:avLst/>
          </a:prstGeom>
        </p:spPr>
      </p:pic>
      <p:pic>
        <p:nvPicPr>
          <p:cNvPr id="43" name="Picture 14" descr="Virus della Tilapia – Acquaponica.blog">
            <a:extLst>
              <a:ext uri="{FF2B5EF4-FFF2-40B4-BE49-F238E27FC236}">
                <a16:creationId xmlns:a16="http://schemas.microsoft.com/office/drawing/2014/main" id="{A39CE451-7EC7-73EF-1E92-30E9E671699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30104" y="312461"/>
            <a:ext cx="5762821" cy="3361647"/>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descr="Hydroponic Systems - Different Types and How They Work | Green and Vibrant">
            <a:extLst>
              <a:ext uri="{FF2B5EF4-FFF2-40B4-BE49-F238E27FC236}">
                <a16:creationId xmlns:a16="http://schemas.microsoft.com/office/drawing/2014/main" id="{A12215A0-F3F8-8AA7-8848-48D17C22FE1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980884" y="17089717"/>
            <a:ext cx="4131274" cy="2824759"/>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a:extLst>
              <a:ext uri="{FF2B5EF4-FFF2-40B4-BE49-F238E27FC236}">
                <a16:creationId xmlns:a16="http://schemas.microsoft.com/office/drawing/2014/main" id="{2B0E7659-7CA5-E96F-7CEB-F453FF1E4501}"/>
              </a:ext>
            </a:extLst>
          </p:cNvPr>
          <p:cNvPicPr>
            <a:picLocks noChangeAspect="1"/>
          </p:cNvPicPr>
          <p:nvPr/>
        </p:nvPicPr>
        <p:blipFill>
          <a:blip r:embed="rId18"/>
          <a:stretch>
            <a:fillRect/>
          </a:stretch>
        </p:blipFill>
        <p:spPr>
          <a:xfrm>
            <a:off x="37474397" y="15605675"/>
            <a:ext cx="4430897" cy="3758937"/>
          </a:xfrm>
          <a:prstGeom prst="rect">
            <a:avLst/>
          </a:prstGeom>
        </p:spPr>
      </p:pic>
    </p:spTree>
    <p:extLst>
      <p:ext uri="{BB962C8B-B14F-4D97-AF65-F5344CB8AC3E}">
        <p14:creationId xmlns:p14="http://schemas.microsoft.com/office/powerpoint/2010/main" val="593796399"/>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00C4A8EF5D1D346B4662FF143AB24F2" ma:contentTypeVersion="2" ma:contentTypeDescription="Create a new document." ma:contentTypeScope="" ma:versionID="e9c895a43a657f2b10c19212da03be7e">
  <xsd:schema xmlns:xsd="http://www.w3.org/2001/XMLSchema" xmlns:xs="http://www.w3.org/2001/XMLSchema" xmlns:p="http://schemas.microsoft.com/office/2006/metadata/properties" xmlns:ns3="6cb96612-e325-4939-825e-4f521b88049c" targetNamespace="http://schemas.microsoft.com/office/2006/metadata/properties" ma:root="true" ma:fieldsID="60d8cddcbe60579e5cb1f6af944074eb" ns3:_="">
    <xsd:import namespace="6cb96612-e325-4939-825e-4f521b88049c"/>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b96612-e325-4939-825e-4f521b8804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9572BB-750B-4F91-998E-BD419E76EB43}">
  <ds:schemaRefs>
    <ds:schemaRef ds:uri="http://schemas.microsoft.com/sharepoint/v3/contenttype/forms"/>
  </ds:schemaRefs>
</ds:datastoreItem>
</file>

<file path=customXml/itemProps2.xml><?xml version="1.0" encoding="utf-8"?>
<ds:datastoreItem xmlns:ds="http://schemas.openxmlformats.org/officeDocument/2006/customXml" ds:itemID="{B55EA7C6-26FB-4CFE-9D33-856F0B2801E4}">
  <ds:schemaRefs>
    <ds:schemaRef ds:uri="6cb96612-e325-4939-825e-4f521b88049c"/>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http://schemas.microsoft.com/office/2006/metadata/properties"/>
    <ds:schemaRef ds:uri="http://purl.org/dc/terms/"/>
    <ds:schemaRef ds:uri="http://www.w3.org/XML/1998/namespace"/>
    <ds:schemaRef ds:uri="http://purl.org/dc/dcmitype/"/>
  </ds:schemaRefs>
</ds:datastoreItem>
</file>

<file path=customXml/itemProps3.xml><?xml version="1.0" encoding="utf-8"?>
<ds:datastoreItem xmlns:ds="http://schemas.openxmlformats.org/officeDocument/2006/customXml" ds:itemID="{104B34D5-AABD-4887-9C4D-A940B82483A2}">
  <ds:schemaRefs>
    <ds:schemaRef ds:uri="6cb96612-e325-4939-825e-4f521b88049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Integral</Template>
  <TotalTime>8632</TotalTime>
  <Words>1895</Words>
  <Application>Microsoft Office PowerPoint</Application>
  <PresentationFormat>Custom</PresentationFormat>
  <Paragraphs>111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Cambria</vt:lpstr>
      <vt:lpstr>Cambria Math</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Evan Gibbs</dc:creator>
  <cp:lastModifiedBy>Evan Gibbs</cp:lastModifiedBy>
  <cp:revision>59</cp:revision>
  <cp:lastPrinted>2023-04-27T04:19:49Z</cp:lastPrinted>
  <dcterms:created xsi:type="dcterms:W3CDTF">2023-04-12T18:21:30Z</dcterms:created>
  <dcterms:modified xsi:type="dcterms:W3CDTF">2026-03-30T18:05:06Z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0x010100600C4A8EF5D1D346B4662FF143AB24F2</vt:lpwstr>
  </property>
</Properties>
</file>